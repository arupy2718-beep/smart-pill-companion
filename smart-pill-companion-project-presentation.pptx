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4" r:id="rId17"/>
    <p:sldId id="262" r:id="rId8"/>
    <p:sldId id="263" r:id="rId9"/>
    <p:sldId id="265" r:id="rId18"/>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ee70c28-be4d-3a71-5e0e-40de73c96d86}">
          <p14:sldIdLst>
            <p14:sldId id="256"/>
          </p14:sldIdLst>
        </p14:section>
        <p14:section name="Selection criteria" id="{da8a86dc-fca2-f945-2c5d-bedc2d24dfd3}">
          <p14:sldIdLst>
            <p14:sldId id="257"/>
            <p14:sldId id="258"/>
            <p14:sldId id="259"/>
            <p14:sldId id="260"/>
            <p14:sldId id="261"/>
            <p14:sldId id="262"/>
            <p14:sldId id="263"/>
            <p14:sldId id="264"/>
          </p14:sldIdLst>
        </p14:section>
        <p14:section name="Scoring" id="{3791322e-d465-66e4-4ce7-e0c92af2a96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9.xml"/>
  <Relationship Id="rId18" Type="http://schemas.openxmlformats.org/officeDocument/2006/relationships/slide" Target="slides/slide10.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revealed Robotics theme and say in one sentence how the Smart Pill Companion fits it. Then state the hook: missed medicines cause preventable hospital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in one line, then the three failure points: forgotten or doubled doses, no proof of intake, and family finding out too late. Add a cited statistic on medication non-adherence from WHO or a medical journal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left to right. The innovation is the closed loop: most pill reminders only ring, ours checks that the pill was picked up and escalates to family if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features beyond the basic dispenser. A PIR sensor wakes the screen when someone waves a hand and shows the next dose time. The DHT11 shows temperature and humidity and warns when conditions are unsuitable for medicines. Four touch buttons and a potentiometer replace push buttons: the knob picks values, touch confirms. A PIN lock stops tampering with settings and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on the left feed one Arduino Mega running a three-state program. Outputs on the right do the physical work: servo disc, LCD, LEDs, buzzer and a relay for a family alert lamp or siren.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states. IDLE shows the clock. At dose time it moves to WAITING, where the disc aligns and the reminder starts. If the IR sensor sees the pill lifted, we celebrate and reset. If 10 minutes pass, ALERT escalates to the family lamp and siren.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RGB LED uses only the three main colours. Green means all good, blue means the elder or caregiver needs to act, and red means a problem such as a missed dose or unsafe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planned tests with pass criteria we will log during the build. Be upfront about the known limit: the IR sensor proves the pill left the tray, not that it was swallowed.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0"/>
            <a:ext cx="4572000" cy="228600"/>
          </a:xfrm>
          <a:prstGeom prst="rect">
            <a:avLst/>
          </a:prstGeom>
          <a:noFill/>
          <a:ln/>
        </p:spPr>
        <p:txBody>
          <a:bodyPr wrap="square" lIns="0" tIns="0" rIns="0" bIns="0" rtlCol="0" anchor="ctr"/>
          <a:lstStyle/>
          <a:p>
            <a:pPr indent="0" marL="0">
              <a:buNone/>
            </a:pPr>
            <a:r>
              <a:rPr lang="en-US" sz="1000" dirty="0">
                <a:solidFill>
                  <a:schemeClr val="accent6"/>
                </a:solidFill>
              </a:rPr>
              <a:t>Smart Pill Companion  |  Falling Sun 2026</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
    <p:bg>
      <p:bgPr>
        <a:solidFill>
          <a:srgbClr val="0B4F5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5720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ap-1.png"/><Relationship Id="rId2" Type="http://schemas.openxmlformats.org/officeDocument/2006/relationships/image" Target="../media/image-ap-2.png"/><Relationship Id="rId3" Type="http://schemas.openxmlformats.org/officeDocument/2006/relationships/image" Target="../media/image-ap-3.png"/><Relationship Id="rId4" Type="http://schemas.openxmlformats.org/officeDocument/2006/relationships/image" Target="../media/image-ap-4.png"/><Relationship Id="rId5"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tag"/>
          <p:cNvSpPr txBox="1"/>
          <p:nvPr/>
        </p:nvSpPr>
        <p:spPr>
          <a:xfrm>
            <a:off x="548640" y="731520"/>
            <a:ext cx="356616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ROBOTICS RAY  |  IDEATION PROPOSAL</a:t>
            </a:r>
            <a:endParaRPr lang="en-US" sz="1000" dirty="0"/>
          </a:p>
        </p:txBody>
      </p:sp>
      <p:sp>
        <p:nvSpPr>
          <p:cNvPr id="3" name="Text 0"/>
          <p:cNvSpPr/>
          <p:nvPr>
            <p:ph idx="100" type="title" hasCustomPrompt="1"/>
          </p:nvPr>
        </p:nvSpPr>
        <p:spPr>
          <a:xfrm>
            <a:off x="548640" y="1417320"/>
            <a:ext cx="4572000" cy="1371600"/>
          </a:xfrm>
          <a:prstGeom prst="rect">
            <a:avLst/>
          </a:prstGeom>
          <a:noFill/>
          <a:ln/>
        </p:spPr>
        <p:txBody>
          <a:bodyPr wrap="square" lIns="0" tIns="0" rIns="0" bIns="0" rtlCol="0" anchor="t"/>
          <a:lstStyle/>
          <a:p>
            <a:pPr algn="l" indent="0" marL="0">
              <a:buNone/>
            </a:pPr>
            <a:r>
              <a:rPr lang="en-US" sz="4400" b="1" dirty="0">
                <a:solidFill>
                  <a:schemeClr val="bg1"/>
                </a:solidFill>
              </a:rPr>
              <a:t>Smart Pill Companion</a:t>
            </a:r>
            <a:endParaRPr lang="en-US" sz="4400" dirty="0"/>
          </a:p>
        </p:txBody>
      </p:sp>
      <p:sp>
        <p:nvSpPr>
          <p:cNvPr id="4" name="Text 2"/>
          <p:cNvSpPr txBox="1"/>
          <p:nvPr/>
        </p:nvSpPr>
        <p:spPr>
          <a:xfrm>
            <a:off x="548640" y="2926080"/>
            <a:ext cx="4480560" cy="822960"/>
          </a:xfrm>
          <a:prstGeom prst="rect">
            <a:avLst/>
          </a:prstGeom>
          <a:noFill/>
          <a:ln/>
        </p:spPr>
        <p:txBody>
          <a:bodyPr wrap="square" lIns="0" tIns="0" rIns="0" bIns="0" rtlCol="0" anchor="t"/>
          <a:lstStyle/>
          <a:p>
            <a:pPr indent="0" marL="0">
              <a:buNone/>
            </a:pPr>
            <a:r>
              <a:rPr lang="en-US" sz="1800" dirty="0">
                <a:solidFill>
                  <a:schemeClr val="bg2"/>
                </a:solidFill>
              </a:rPr>
              <a:t>A low-cost robotic dispenser that reminds, verifies and alerts for elders who live alone</a:t>
            </a:r>
            <a:endParaRPr lang="en-US" sz="1800" dirty="0"/>
          </a:p>
        </p:txBody>
      </p:sp>
      <p:sp>
        <p:nvSpPr>
          <p:cNvPr id="5" name="Text 3"/>
          <p:cNvSpPr txBox="1"/>
          <p:nvPr/>
        </p:nvSpPr>
        <p:spPr>
          <a:xfrm>
            <a:off x="548640" y="4297680"/>
            <a:ext cx="4114800" cy="274320"/>
          </a:xfrm>
          <a:prstGeom prst="rect">
            <a:avLst/>
          </a:prstGeom>
          <a:noFill/>
          <a:ln/>
        </p:spPr>
        <p:txBody>
          <a:bodyPr wrap="square" lIns="0" tIns="0" rIns="0" bIns="0" rtlCol="0" anchor="t"/>
          <a:lstStyle/>
          <a:p>
            <a:pPr indent="0" marL="0">
              <a:buNone/>
            </a:pPr>
            <a:r>
              <a:rPr lang="en-US" sz="1400" dirty="0">
                <a:solidFill>
                  <a:schemeClr val="accent5"/>
                </a:solidFill>
              </a:rPr>
              <a:t>Falling Sun 2026  |  24-25 October</a:t>
            </a:r>
            <a:endParaRPr lang="en-US" sz="1400" dirty="0"/>
          </a:p>
        </p:txBody>
      </p:sp>
      <p:sp>
        <p:nvSpPr>
          <p:cNvPr id="6" name="Capsule base"/>
          <p:cNvSpPr/>
          <p:nvPr/>
        </p:nvSpPr>
        <p:spPr>
          <a:xfrm>
            <a:off x="5394960" y="1920240"/>
            <a:ext cx="3200400" cy="1188720"/>
          </a:xfrm>
          <a:prstGeom prst="roundRect">
            <a:avLst>
              <a:gd name="adj" fmla="val 50000"/>
            </a:avLst>
          </a:prstGeom>
          <a:solidFill>
            <a:schemeClr val="accent2"/>
          </a:solidFill>
          <a:ln w="12700">
            <a:solidFill>
              <a:schemeClr val="accent2"/>
            </a:solidFill>
            <a:prstDash val="solid"/>
          </a:ln>
        </p:spPr>
      </p:sp>
      <p:sp>
        <p:nvSpPr>
          <p:cNvPr id="7" name="Capsule right"/>
          <p:cNvSpPr/>
          <p:nvPr/>
        </p:nvSpPr>
        <p:spPr>
          <a:xfrm>
            <a:off x="6995160" y="1920240"/>
            <a:ext cx="1600200" cy="1188720"/>
          </a:xfrm>
          <a:prstGeom prst="roundRect">
            <a:avLst>
              <a:gd name="adj" fmla="val 50000"/>
            </a:avLst>
          </a:prstGeom>
          <a:solidFill>
            <a:schemeClr val="bg1"/>
          </a:solidFill>
          <a:ln w="12700">
            <a:solidFill>
              <a:schemeClr val="bg1"/>
            </a:solidFill>
            <a:prstDash val="solid"/>
          </a:ln>
        </p:spPr>
      </p:sp>
      <p:sp>
        <p:nvSpPr>
          <p:cNvPr id="8" name="Capsule join"/>
          <p:cNvSpPr/>
          <p:nvPr/>
        </p:nvSpPr>
        <p:spPr>
          <a:xfrm>
            <a:off x="6995160" y="1920240"/>
            <a:ext cx="640080" cy="1188720"/>
          </a:xfrm>
          <a:prstGeom prst="rect">
            <a:avLst/>
          </a:prstGeom>
          <a:solidFill>
            <a:schemeClr val="accent2"/>
          </a:solidFill>
          <a:ln w="12700">
            <a:solidFill>
              <a:schemeClr val="accent2"/>
            </a:solidFill>
            <a:prstDash val="solid"/>
          </a:ln>
        </p:spPr>
      </p:sp>
      <p:sp>
        <p:nvSpPr>
          <p:cNvPr id="9" name="Capsule seam"/>
          <p:cNvSpPr/>
          <p:nvPr/>
        </p:nvSpPr>
        <p:spPr>
          <a:xfrm>
            <a:off x="6995160" y="1920240"/>
            <a:ext cx="18288" cy="1188720"/>
          </a:xfrm>
          <a:prstGeom prst="rect">
            <a:avLst/>
          </a:prstGeom>
          <a:solidFill>
            <a:schemeClr val="accent2"/>
          </a:solidFill>
          <a:ln w="12700">
            <a:solidFill>
              <a:schemeClr val="accent2"/>
            </a:solidFill>
            <a:prstDash val="solid"/>
          </a:ln>
        </p:spPr>
      </p:sp>
      <p:sp>
        <p:nvSpPr>
          <p:cNvPr id="10" name="Pill dot 1"/>
          <p:cNvSpPr/>
          <p:nvPr/>
        </p:nvSpPr>
        <p:spPr>
          <a:xfrm>
            <a:off x="5760720" y="3429000"/>
            <a:ext cx="457200" cy="457200"/>
          </a:xfrm>
          <a:prstGeom prst="ellipse">
            <a:avLst/>
          </a:prstGeom>
          <a:solidFill>
            <a:schemeClr val="accent3"/>
          </a:solidFill>
          <a:ln w="12700">
            <a:solidFill>
              <a:schemeClr val="accent3"/>
            </a:solidFill>
            <a:prstDash val="solid"/>
          </a:ln>
        </p:spPr>
      </p:sp>
      <p:sp>
        <p:nvSpPr>
          <p:cNvPr id="11" name="Pill dot 2"/>
          <p:cNvSpPr/>
          <p:nvPr/>
        </p:nvSpPr>
        <p:spPr>
          <a:xfrm>
            <a:off x="6400800" y="3611880"/>
            <a:ext cx="292608" cy="292608"/>
          </a:xfrm>
          <a:prstGeom prst="ellipse">
            <a:avLst/>
          </a:prstGeom>
          <a:solidFill>
            <a:schemeClr val="accent5"/>
          </a:solidFill>
          <a:ln w="12700">
            <a:solidFill>
              <a:schemeClr val="accent5"/>
            </a:solidFill>
            <a:prstDash val="solid"/>
          </a:ln>
        </p:spPr>
      </p:sp>
      <p:sp>
        <p:nvSpPr>
          <p:cNvPr id="12" name="Pill dot 3"/>
          <p:cNvSpPr/>
          <p:nvPr/>
        </p:nvSpPr>
        <p:spPr>
          <a:xfrm>
            <a:off x="7863840" y="3474720"/>
            <a:ext cx="384048" cy="384048"/>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riterion tag 1"/>
          <p:cNvSpPr txBox="1"/>
          <p:nvPr/>
        </p:nvSpPr>
        <p:spPr>
          <a:xfrm>
            <a:off x="548640" y="310896"/>
            <a:ext cx="4789627"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1 OF 5  |  ABSTRACT &amp; PROBLEM STATEMENT</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Problem &amp; Abstract</a:t>
            </a:r>
            <a:endParaRPr lang="en-US" sz="3400" dirty="0"/>
          </a:p>
        </p:txBody>
      </p:sp>
      <p:sp>
        <p:nvSpPr>
          <p:cNvPr id="4" name="Text 2"/>
          <p:cNvSpPr txBox="1"/>
          <p:nvPr/>
        </p:nvSpPr>
        <p:spPr>
          <a:xfrm>
            <a:off x="548640" y="1371600"/>
            <a:ext cx="8046720" cy="411480"/>
          </a:xfrm>
          <a:prstGeom prst="rect">
            <a:avLst/>
          </a:prstGeom>
          <a:noFill/>
          <a:ln/>
        </p:spPr>
        <p:txBody>
          <a:bodyPr wrap="square" lIns="0" tIns="0" rIns="0" bIns="0" rtlCol="0" anchor="t"/>
          <a:lstStyle/>
          <a:p>
            <a:pPr indent="0" marL="0">
              <a:buNone/>
            </a:pPr>
            <a:r>
              <a:rPr lang="en-US" sz="2000" b="1" i="1" dirty="0">
                <a:solidFill>
                  <a:schemeClr val="accent2"/>
                </a:solidFill>
              </a:rPr>
              <a:t>Missed medicines cause preventable hospital visits.</a:t>
            </a:r>
            <a:endParaRPr lang="en-US" sz="2000" dirty="0"/>
          </a:p>
        </p:txBody>
      </p:sp>
      <p:sp>
        <p:nvSpPr>
          <p:cNvPr id="5" name="Card 2"/>
          <p:cNvSpPr/>
          <p:nvPr/>
        </p:nvSpPr>
        <p:spPr>
          <a:xfrm>
            <a:off x="548640" y="1965960"/>
            <a:ext cx="3931920" cy="2606040"/>
          </a:xfrm>
          <a:prstGeom prst="roundRect">
            <a:avLst>
              <a:gd name="adj" fmla="val 4211"/>
            </a:avLst>
          </a:prstGeom>
          <a:solidFill>
            <a:schemeClr val="bg2"/>
          </a:solidFill>
          <a:ln w="12700">
            <a:solidFill>
              <a:schemeClr val="bg2"/>
            </a:solidFill>
            <a:prstDash val="solid"/>
          </a:ln>
        </p:spPr>
      </p:sp>
      <p:sp>
        <p:nvSpPr>
          <p:cNvPr id="6" name="Text 4"/>
          <p:cNvSpPr txBox="1"/>
          <p:nvPr/>
        </p:nvSpPr>
        <p:spPr>
          <a:xfrm>
            <a:off x="777240" y="2103120"/>
            <a:ext cx="3474720" cy="228600"/>
          </a:xfrm>
          <a:prstGeom prst="rect">
            <a:avLst/>
          </a:prstGeom>
          <a:noFill/>
          <a:ln/>
        </p:spPr>
        <p:txBody>
          <a:bodyPr wrap="square" lIns="0" tIns="0" rIns="0" bIns="0" rtlCol="0" anchor="t"/>
          <a:lstStyle/>
          <a:p>
            <a:pPr indent="0" marL="0">
              <a:buNone/>
            </a:pPr>
            <a:r>
              <a:rPr lang="en-US" sz="1200" b="1" spc="100" kern="0" dirty="0">
                <a:solidFill>
                  <a:schemeClr val="tx2"/>
                </a:solidFill>
              </a:rPr>
              <a:t>ABSTRACT</a:t>
            </a:r>
            <a:endParaRPr lang="en-US" sz="1200" dirty="0"/>
          </a:p>
        </p:txBody>
      </p:sp>
      <p:sp>
        <p:nvSpPr>
          <p:cNvPr id="7" name="Text 5"/>
          <p:cNvSpPr txBox="1"/>
          <p:nvPr/>
        </p:nvSpPr>
        <p:spPr>
          <a:xfrm>
            <a:off x="777240" y="2423160"/>
            <a:ext cx="3474720" cy="2011680"/>
          </a:xfrm>
          <a:prstGeom prst="rect">
            <a:avLst/>
          </a:prstGeom>
          <a:noFill/>
          <a:ln/>
        </p:spPr>
        <p:txBody>
          <a:bodyPr wrap="square" lIns="0" tIns="0" rIns="0" bIns="0" rtlCol="0" anchor="t"/>
          <a:lstStyle/>
          <a:p>
            <a:pPr indent="0" marL="0">
              <a:buNone/>
            </a:pPr>
            <a:r>
              <a:rPr lang="en-US" sz="1400" dirty="0">
                <a:solidFill>
                  <a:schemeClr val="tx1"/>
                </a:solidFill>
              </a:rPr>
              <a:t>Elders who live alone often miss or repeat doses. Smart Pill Companion is an Arduino-based robotic dispenser. It releases the right dose at the right time, confirms the pill was picked up, and alerts family if it was not. It also monitors storage, has a minor illness mode with saved prescriptions, and a PIN lock keeps settings safe.</a:t>
            </a:r>
            <a:endParaRPr lang="en-US" sz="1400" dirty="0"/>
          </a:p>
        </p:txBody>
      </p:sp>
      <p:sp>
        <p:nvSpPr>
          <p:cNvPr id="8" name="Icon circle 3"/>
          <p:cNvSpPr/>
          <p:nvPr/>
        </p:nvSpPr>
        <p:spPr>
          <a:xfrm>
            <a:off x="4800600" y="2011680"/>
            <a:ext cx="621792" cy="621792"/>
          </a:xfrm>
          <a:prstGeom prst="ellipse">
            <a:avLst/>
          </a:prstGeom>
          <a:solidFill>
            <a:schemeClr val="accent1"/>
          </a:solidFill>
          <a:ln w="12700">
            <a:solidFill>
              <a:schemeClr val="accent1"/>
            </a:solidFill>
            <a:prstDash val="solid"/>
          </a:ln>
        </p:spPr>
      </p:sp>
      <p:pic>
        <p:nvPicPr>
          <p:cNvPr id="9" name="Image 0" descr="icon">    </p:cNvPr>
          <p:cNvPicPr>
            <a:picLocks noChangeAspect="1"/>
          </p:cNvPicPr>
          <p:nvPr/>
        </p:nvPicPr>
        <p:blipFill>
          <a:blip r:embed="rId1"/>
          <a:stretch>
            <a:fillRect/>
          </a:stretch>
        </p:blipFill>
        <p:spPr>
          <a:xfrm>
            <a:off x="4962266" y="2173346"/>
            <a:ext cx="298460" cy="298460"/>
          </a:xfrm>
          <a:prstGeom prst="rect">
            <a:avLst/>
          </a:prstGeom>
        </p:spPr>
      </p:pic>
      <p:sp>
        <p:nvSpPr>
          <p:cNvPr id="10" name="Text 7"/>
          <p:cNvSpPr txBox="1"/>
          <p:nvPr/>
        </p:nvSpPr>
        <p:spPr>
          <a:xfrm>
            <a:off x="5623560" y="2029968"/>
            <a:ext cx="3017520" cy="274320"/>
          </a:xfrm>
          <a:prstGeom prst="rect">
            <a:avLst/>
          </a:prstGeom>
          <a:noFill/>
          <a:ln/>
        </p:spPr>
        <p:txBody>
          <a:bodyPr wrap="square" lIns="0" tIns="0" rIns="0" bIns="0" rtlCol="0" anchor="t"/>
          <a:lstStyle/>
          <a:p>
            <a:pPr indent="0" marL="0">
              <a:buNone/>
            </a:pPr>
            <a:r>
              <a:rPr lang="en-US" sz="1600" b="1" dirty="0">
                <a:solidFill>
                  <a:schemeClr val="tx2"/>
                </a:solidFill>
              </a:rPr>
              <a:t>Doses forgotten or doubled</a:t>
            </a:r>
            <a:endParaRPr lang="en-US" sz="1600" dirty="0"/>
          </a:p>
        </p:txBody>
      </p:sp>
      <p:sp>
        <p:nvSpPr>
          <p:cNvPr id="11" name="Text 8"/>
          <p:cNvSpPr txBox="1"/>
          <p:nvPr/>
        </p:nvSpPr>
        <p:spPr>
          <a:xfrm>
            <a:off x="5623560" y="2322576"/>
            <a:ext cx="3017520" cy="274320"/>
          </a:xfrm>
          <a:prstGeom prst="rect">
            <a:avLst/>
          </a:prstGeom>
          <a:noFill/>
          <a:ln/>
        </p:spPr>
        <p:txBody>
          <a:bodyPr wrap="square" lIns="0" tIns="0" rIns="0" bIns="0" rtlCol="0" anchor="t"/>
          <a:lstStyle/>
          <a:p>
            <a:pPr indent="0" marL="0">
              <a:buNone/>
            </a:pPr>
            <a:r>
              <a:rPr lang="en-US" sz="1400" dirty="0">
                <a:solidFill>
                  <a:schemeClr val="accent6"/>
                </a:solidFill>
              </a:rPr>
              <a:t>Memory slips and complex schedules</a:t>
            </a:r>
            <a:endParaRPr lang="en-US" sz="1400" dirty="0"/>
          </a:p>
        </p:txBody>
      </p:sp>
      <p:sp>
        <p:nvSpPr>
          <p:cNvPr id="12" name="Icon circle 4"/>
          <p:cNvSpPr/>
          <p:nvPr/>
        </p:nvSpPr>
        <p:spPr>
          <a:xfrm>
            <a:off x="4800600" y="2880360"/>
            <a:ext cx="621792" cy="621792"/>
          </a:xfrm>
          <a:prstGeom prst="ellipse">
            <a:avLst/>
          </a:prstGeom>
          <a:solidFill>
            <a:schemeClr val="accent1"/>
          </a:solidFill>
          <a:ln w="12700">
            <a:solidFill>
              <a:schemeClr val="accent1"/>
            </a:solidFill>
            <a:prstDash val="solid"/>
          </a:ln>
        </p:spPr>
      </p:sp>
      <p:pic>
        <p:nvPicPr>
          <p:cNvPr id="13" name="Image 1" descr="icon">    </p:cNvPr>
          <p:cNvPicPr>
            <a:picLocks noChangeAspect="1"/>
          </p:cNvPicPr>
          <p:nvPr/>
        </p:nvPicPr>
        <p:blipFill>
          <a:blip r:embed="rId2"/>
          <a:stretch>
            <a:fillRect/>
          </a:stretch>
        </p:blipFill>
        <p:spPr>
          <a:xfrm>
            <a:off x="4962266" y="3042026"/>
            <a:ext cx="298460" cy="298460"/>
          </a:xfrm>
          <a:prstGeom prst="rect">
            <a:avLst/>
          </a:prstGeom>
        </p:spPr>
      </p:pic>
      <p:sp>
        <p:nvSpPr>
          <p:cNvPr id="14" name="Text 10"/>
          <p:cNvSpPr txBox="1"/>
          <p:nvPr/>
        </p:nvSpPr>
        <p:spPr>
          <a:xfrm>
            <a:off x="5623560" y="2898648"/>
            <a:ext cx="3017520" cy="274320"/>
          </a:xfrm>
          <a:prstGeom prst="rect">
            <a:avLst/>
          </a:prstGeom>
          <a:noFill/>
          <a:ln/>
        </p:spPr>
        <p:txBody>
          <a:bodyPr wrap="square" lIns="0" tIns="0" rIns="0" bIns="0" rtlCol="0" anchor="t"/>
          <a:lstStyle/>
          <a:p>
            <a:pPr indent="0" marL="0">
              <a:buNone/>
            </a:pPr>
            <a:r>
              <a:rPr lang="en-US" sz="1600" b="1" dirty="0">
                <a:solidFill>
                  <a:schemeClr val="tx2"/>
                </a:solidFill>
              </a:rPr>
              <a:t>No proof a dose was taken</a:t>
            </a:r>
            <a:endParaRPr lang="en-US" sz="1600" dirty="0"/>
          </a:p>
        </p:txBody>
      </p:sp>
      <p:sp>
        <p:nvSpPr>
          <p:cNvPr id="15" name="Text 11"/>
          <p:cNvSpPr txBox="1"/>
          <p:nvPr/>
        </p:nvSpPr>
        <p:spPr>
          <a:xfrm>
            <a:off x="5623560" y="3191256"/>
            <a:ext cx="3017520" cy="274320"/>
          </a:xfrm>
          <a:prstGeom prst="rect">
            <a:avLst/>
          </a:prstGeom>
          <a:noFill/>
          <a:ln/>
        </p:spPr>
        <p:txBody>
          <a:bodyPr wrap="square" lIns="0" tIns="0" rIns="0" bIns="0" rtlCol="0" anchor="t"/>
          <a:lstStyle/>
          <a:p>
            <a:pPr indent="0" marL="0">
              <a:buNone/>
            </a:pPr>
            <a:r>
              <a:rPr lang="en-US" sz="1400" dirty="0">
                <a:solidFill>
                  <a:schemeClr val="accent6"/>
                </a:solidFill>
              </a:rPr>
              <a:t>Alarm clocks cannot verify</a:t>
            </a:r>
            <a:endParaRPr lang="en-US" sz="1400" dirty="0"/>
          </a:p>
        </p:txBody>
      </p:sp>
      <p:sp>
        <p:nvSpPr>
          <p:cNvPr id="16" name="Icon circle 5"/>
          <p:cNvSpPr/>
          <p:nvPr/>
        </p:nvSpPr>
        <p:spPr>
          <a:xfrm>
            <a:off x="4800600" y="3749040"/>
            <a:ext cx="621792" cy="621792"/>
          </a:xfrm>
          <a:prstGeom prst="ellipse">
            <a:avLst/>
          </a:prstGeom>
          <a:solidFill>
            <a:schemeClr val="accent1"/>
          </a:solidFill>
          <a:ln w="12700">
            <a:solidFill>
              <a:schemeClr val="accent1"/>
            </a:solidFill>
            <a:prstDash val="solid"/>
          </a:ln>
        </p:spPr>
      </p:sp>
      <p:pic>
        <p:nvPicPr>
          <p:cNvPr id="17" name="Image 2" descr="icon">    </p:cNvPr>
          <p:cNvPicPr>
            <a:picLocks noChangeAspect="1"/>
          </p:cNvPicPr>
          <p:nvPr/>
        </p:nvPicPr>
        <p:blipFill>
          <a:blip r:embed="rId3"/>
          <a:stretch>
            <a:fillRect/>
          </a:stretch>
        </p:blipFill>
        <p:spPr>
          <a:xfrm>
            <a:off x="4962266" y="3910706"/>
            <a:ext cx="298460" cy="298460"/>
          </a:xfrm>
          <a:prstGeom prst="rect">
            <a:avLst/>
          </a:prstGeom>
        </p:spPr>
      </p:pic>
      <p:sp>
        <p:nvSpPr>
          <p:cNvPr id="18" name="Text 13"/>
          <p:cNvSpPr txBox="1"/>
          <p:nvPr/>
        </p:nvSpPr>
        <p:spPr>
          <a:xfrm>
            <a:off x="5623560" y="3767328"/>
            <a:ext cx="3017520" cy="274320"/>
          </a:xfrm>
          <a:prstGeom prst="rect">
            <a:avLst/>
          </a:prstGeom>
          <a:noFill/>
          <a:ln/>
        </p:spPr>
        <p:txBody>
          <a:bodyPr wrap="square" lIns="0" tIns="0" rIns="0" bIns="0" rtlCol="0" anchor="t"/>
          <a:lstStyle/>
          <a:p>
            <a:pPr indent="0" marL="0">
              <a:buNone/>
            </a:pPr>
            <a:r>
              <a:rPr lang="en-US" sz="1600" b="1" dirty="0">
                <a:solidFill>
                  <a:schemeClr val="tx2"/>
                </a:solidFill>
              </a:rPr>
              <a:t>Family learns too late</a:t>
            </a:r>
            <a:endParaRPr lang="en-US" sz="1600" dirty="0"/>
          </a:p>
        </p:txBody>
      </p:sp>
      <p:sp>
        <p:nvSpPr>
          <p:cNvPr id="19" name="Text 14"/>
          <p:cNvSpPr txBox="1"/>
          <p:nvPr/>
        </p:nvSpPr>
        <p:spPr>
          <a:xfrm>
            <a:off x="5623560" y="4059936"/>
            <a:ext cx="3017520" cy="274320"/>
          </a:xfrm>
          <a:prstGeom prst="rect">
            <a:avLst/>
          </a:prstGeom>
          <a:noFill/>
          <a:ln/>
        </p:spPr>
        <p:txBody>
          <a:bodyPr wrap="square" lIns="0" tIns="0" rIns="0" bIns="0" rtlCol="0" anchor="t"/>
          <a:lstStyle/>
          <a:p>
            <a:pPr indent="0" marL="0">
              <a:buNone/>
            </a:pPr>
            <a:r>
              <a:rPr lang="en-US" sz="1400" dirty="0">
                <a:solidFill>
                  <a:schemeClr val="accent6"/>
                </a:solidFill>
              </a:rPr>
              <a:t>No alert reaches caregivers</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iterion tag 6"/>
          <p:cNvSpPr txBox="1"/>
          <p:nvPr/>
        </p:nvSpPr>
        <p:spPr>
          <a:xfrm>
            <a:off x="548640" y="310896"/>
            <a:ext cx="4939589"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2 OF 5  |  PROPOSED SOLUTION &amp; INNOVATION</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Solution &amp; Innovation</a:t>
            </a:r>
            <a:endParaRPr lang="en-US" sz="3400" dirty="0"/>
          </a:p>
        </p:txBody>
      </p:sp>
      <p:sp>
        <p:nvSpPr>
          <p:cNvPr id="4" name="Card 7"/>
          <p:cNvSpPr/>
          <p:nvPr/>
        </p:nvSpPr>
        <p:spPr>
          <a:xfrm>
            <a:off x="548640" y="1463040"/>
            <a:ext cx="1874520" cy="1965960"/>
          </a:xfrm>
          <a:prstGeom prst="roundRect">
            <a:avLst>
              <a:gd name="adj" fmla="val 5854"/>
            </a:avLst>
          </a:prstGeom>
          <a:solidFill>
            <a:schemeClr val="bg2"/>
          </a:solidFill>
          <a:ln w="12700">
            <a:solidFill>
              <a:schemeClr val="bg2"/>
            </a:solidFill>
            <a:prstDash val="solid"/>
          </a:ln>
        </p:spPr>
      </p:sp>
      <p:sp>
        <p:nvSpPr>
          <p:cNvPr id="5" name="Icon circle 8"/>
          <p:cNvSpPr/>
          <p:nvPr/>
        </p:nvSpPr>
        <p:spPr>
          <a:xfrm>
            <a:off x="731520" y="1627632"/>
            <a:ext cx="548640" cy="54864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874166" y="1770278"/>
            <a:ext cx="263347" cy="263347"/>
          </a:xfrm>
          <a:prstGeom prst="rect">
            <a:avLst/>
          </a:prstGeom>
        </p:spPr>
      </p:pic>
      <p:sp>
        <p:nvSpPr>
          <p:cNvPr id="7" name="Step number 01"/>
          <p:cNvSpPr txBox="1"/>
          <p:nvPr/>
        </p:nvSpPr>
        <p:spPr>
          <a:xfrm>
            <a:off x="1645920" y="1691640"/>
            <a:ext cx="59436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dirty="0">
                <a:solidFill>
                  <a:schemeClr val="bg1"/>
                </a:solidFill>
              </a:rPr>
              <a:t>01</a:t>
            </a:r>
            <a:endParaRPr lang="en-US" sz="1200" dirty="0"/>
          </a:p>
        </p:txBody>
      </p:sp>
      <p:sp>
        <p:nvSpPr>
          <p:cNvPr id="8" name="Text 5"/>
          <p:cNvSpPr txBox="1"/>
          <p:nvPr/>
        </p:nvSpPr>
        <p:spPr>
          <a:xfrm>
            <a:off x="731520" y="2331720"/>
            <a:ext cx="1554480" cy="320040"/>
          </a:xfrm>
          <a:prstGeom prst="rect">
            <a:avLst/>
          </a:prstGeom>
          <a:noFill/>
          <a:ln/>
        </p:spPr>
        <p:txBody>
          <a:bodyPr wrap="square" lIns="0" tIns="0" rIns="0" bIns="0" rtlCol="0" anchor="t"/>
          <a:lstStyle/>
          <a:p>
            <a:pPr indent="0" marL="0">
              <a:buNone/>
            </a:pPr>
            <a:r>
              <a:rPr lang="en-US" sz="1800" b="1" dirty="0">
                <a:solidFill>
                  <a:schemeClr val="tx2"/>
                </a:solidFill>
              </a:rPr>
              <a:t>Remind</a:t>
            </a:r>
            <a:endParaRPr lang="en-US" sz="1800" dirty="0"/>
          </a:p>
        </p:txBody>
      </p:sp>
      <p:sp>
        <p:nvSpPr>
          <p:cNvPr id="9" name="Text 6"/>
          <p:cNvSpPr txBox="1"/>
          <p:nvPr/>
        </p:nvSpPr>
        <p:spPr>
          <a:xfrm>
            <a:off x="731520" y="2697480"/>
            <a:ext cx="1554480" cy="640080"/>
          </a:xfrm>
          <a:prstGeom prst="rect">
            <a:avLst/>
          </a:prstGeom>
          <a:noFill/>
          <a:ln/>
        </p:spPr>
        <p:txBody>
          <a:bodyPr wrap="square" lIns="0" tIns="0" rIns="0" bIns="0" rtlCol="0" anchor="t"/>
          <a:lstStyle/>
          <a:p>
            <a:pPr indent="0" marL="0">
              <a:buNone/>
            </a:pPr>
            <a:r>
              <a:rPr lang="en-US" sz="1400" dirty="0">
                <a:solidFill>
                  <a:schemeClr val="tx1"/>
                </a:solidFill>
              </a:rPr>
              <a:t>LCD message plus gentle beeps</a:t>
            </a:r>
            <a:endParaRPr lang="en-US" sz="1400" dirty="0"/>
          </a:p>
        </p:txBody>
      </p:sp>
      <p:sp>
        <p:nvSpPr>
          <p:cNvPr id="10" name="Card 9"/>
          <p:cNvSpPr/>
          <p:nvPr/>
        </p:nvSpPr>
        <p:spPr>
          <a:xfrm>
            <a:off x="2606040" y="1463040"/>
            <a:ext cx="1874520" cy="1965960"/>
          </a:xfrm>
          <a:prstGeom prst="roundRect">
            <a:avLst>
              <a:gd name="adj" fmla="val 5854"/>
            </a:avLst>
          </a:prstGeom>
          <a:solidFill>
            <a:schemeClr val="bg2"/>
          </a:solidFill>
          <a:ln w="12700">
            <a:solidFill>
              <a:schemeClr val="bg2"/>
            </a:solidFill>
            <a:prstDash val="solid"/>
          </a:ln>
        </p:spPr>
      </p:sp>
      <p:sp>
        <p:nvSpPr>
          <p:cNvPr id="11" name="Icon circle 10"/>
          <p:cNvSpPr/>
          <p:nvPr/>
        </p:nvSpPr>
        <p:spPr>
          <a:xfrm>
            <a:off x="2788920" y="1627632"/>
            <a:ext cx="548640" cy="548640"/>
          </a:xfrm>
          <a:prstGeom prst="ellipse">
            <a:avLst/>
          </a:prstGeom>
          <a:solidFill>
            <a:schemeClr val="accent1"/>
          </a:solidFill>
          <a:ln w="12700">
            <a:solidFill>
              <a:schemeClr val="accent1"/>
            </a:solidFill>
            <a:prstDash val="solid"/>
          </a:ln>
        </p:spPr>
      </p:sp>
      <p:pic>
        <p:nvPicPr>
          <p:cNvPr id="12" name="Image 1" descr="icon">    </p:cNvPr>
          <p:cNvPicPr>
            <a:picLocks noChangeAspect="1"/>
          </p:cNvPicPr>
          <p:nvPr/>
        </p:nvPicPr>
        <p:blipFill>
          <a:blip r:embed="rId2"/>
          <a:stretch>
            <a:fillRect/>
          </a:stretch>
        </p:blipFill>
        <p:spPr>
          <a:xfrm>
            <a:off x="2931566" y="1770278"/>
            <a:ext cx="263347" cy="263347"/>
          </a:xfrm>
          <a:prstGeom prst="rect">
            <a:avLst/>
          </a:prstGeom>
        </p:spPr>
      </p:pic>
      <p:sp>
        <p:nvSpPr>
          <p:cNvPr id="13" name="Step number 02"/>
          <p:cNvSpPr txBox="1"/>
          <p:nvPr/>
        </p:nvSpPr>
        <p:spPr>
          <a:xfrm>
            <a:off x="3703320" y="1691640"/>
            <a:ext cx="59436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dirty="0">
                <a:solidFill>
                  <a:schemeClr val="bg1"/>
                </a:solidFill>
              </a:rPr>
              <a:t>02</a:t>
            </a:r>
            <a:endParaRPr lang="en-US" sz="1200" dirty="0"/>
          </a:p>
        </p:txBody>
      </p:sp>
      <p:sp>
        <p:nvSpPr>
          <p:cNvPr id="14" name="Text 10"/>
          <p:cNvSpPr txBox="1"/>
          <p:nvPr/>
        </p:nvSpPr>
        <p:spPr>
          <a:xfrm>
            <a:off x="2788920" y="2331720"/>
            <a:ext cx="1554480" cy="320040"/>
          </a:xfrm>
          <a:prstGeom prst="rect">
            <a:avLst/>
          </a:prstGeom>
          <a:noFill/>
          <a:ln/>
        </p:spPr>
        <p:txBody>
          <a:bodyPr wrap="square" lIns="0" tIns="0" rIns="0" bIns="0" rtlCol="0" anchor="t"/>
          <a:lstStyle/>
          <a:p>
            <a:pPr indent="0" marL="0">
              <a:buNone/>
            </a:pPr>
            <a:r>
              <a:rPr lang="en-US" sz="1800" b="1" dirty="0">
                <a:solidFill>
                  <a:schemeClr val="tx2"/>
                </a:solidFill>
              </a:rPr>
              <a:t>Dispense</a:t>
            </a:r>
            <a:endParaRPr lang="en-US" sz="1800" dirty="0"/>
          </a:p>
        </p:txBody>
      </p:sp>
      <p:sp>
        <p:nvSpPr>
          <p:cNvPr id="15" name="Text 11"/>
          <p:cNvSpPr txBox="1"/>
          <p:nvPr/>
        </p:nvSpPr>
        <p:spPr>
          <a:xfrm>
            <a:off x="2788920" y="2697480"/>
            <a:ext cx="1554480" cy="640080"/>
          </a:xfrm>
          <a:prstGeom prst="rect">
            <a:avLst/>
          </a:prstGeom>
          <a:noFill/>
          <a:ln/>
        </p:spPr>
        <p:txBody>
          <a:bodyPr wrap="square" lIns="0" tIns="0" rIns="0" bIns="0" rtlCol="0" anchor="t"/>
          <a:lstStyle/>
          <a:p>
            <a:pPr indent="0" marL="0">
              <a:buNone/>
            </a:pPr>
            <a:r>
              <a:rPr lang="en-US" sz="1400" dirty="0">
                <a:solidFill>
                  <a:schemeClr val="tx1"/>
                </a:solidFill>
              </a:rPr>
              <a:t>Servo turns disc to the right slot</a:t>
            </a:r>
            <a:endParaRPr lang="en-US" sz="1400" dirty="0"/>
          </a:p>
        </p:txBody>
      </p:sp>
      <p:sp>
        <p:nvSpPr>
          <p:cNvPr id="16" name="Card 11"/>
          <p:cNvSpPr/>
          <p:nvPr/>
        </p:nvSpPr>
        <p:spPr>
          <a:xfrm>
            <a:off x="4663440" y="1463040"/>
            <a:ext cx="1874520" cy="1965960"/>
          </a:xfrm>
          <a:prstGeom prst="roundRect">
            <a:avLst>
              <a:gd name="adj" fmla="val 5854"/>
            </a:avLst>
          </a:prstGeom>
          <a:solidFill>
            <a:schemeClr val="bg2"/>
          </a:solidFill>
          <a:ln w="12700">
            <a:solidFill>
              <a:schemeClr val="bg2"/>
            </a:solidFill>
            <a:prstDash val="solid"/>
          </a:ln>
        </p:spPr>
      </p:sp>
      <p:sp>
        <p:nvSpPr>
          <p:cNvPr id="17" name="Icon circle 12"/>
          <p:cNvSpPr/>
          <p:nvPr/>
        </p:nvSpPr>
        <p:spPr>
          <a:xfrm>
            <a:off x="4846320" y="1627632"/>
            <a:ext cx="548640" cy="548640"/>
          </a:xfrm>
          <a:prstGeom prst="ellipse">
            <a:avLst/>
          </a:prstGeom>
          <a:solidFill>
            <a:schemeClr val="accent1"/>
          </a:solidFill>
          <a:ln w="12700">
            <a:solidFill>
              <a:schemeClr val="accent1"/>
            </a:solidFill>
            <a:prstDash val="solid"/>
          </a:ln>
        </p:spPr>
      </p:sp>
      <p:pic>
        <p:nvPicPr>
          <p:cNvPr id="18" name="Image 2" descr="icon">    </p:cNvPr>
          <p:cNvPicPr>
            <a:picLocks noChangeAspect="1"/>
          </p:cNvPicPr>
          <p:nvPr/>
        </p:nvPicPr>
        <p:blipFill>
          <a:blip r:embed="rId3"/>
          <a:stretch>
            <a:fillRect/>
          </a:stretch>
        </p:blipFill>
        <p:spPr>
          <a:xfrm>
            <a:off x="4988966" y="1770278"/>
            <a:ext cx="263347" cy="263347"/>
          </a:xfrm>
          <a:prstGeom prst="rect">
            <a:avLst/>
          </a:prstGeom>
        </p:spPr>
      </p:pic>
      <p:sp>
        <p:nvSpPr>
          <p:cNvPr id="19" name="Step number 03"/>
          <p:cNvSpPr txBox="1"/>
          <p:nvPr/>
        </p:nvSpPr>
        <p:spPr>
          <a:xfrm>
            <a:off x="5760720" y="1691640"/>
            <a:ext cx="59436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20" name="Text 15"/>
          <p:cNvSpPr txBox="1"/>
          <p:nvPr/>
        </p:nvSpPr>
        <p:spPr>
          <a:xfrm>
            <a:off x="4846320" y="2331720"/>
            <a:ext cx="1554480" cy="320040"/>
          </a:xfrm>
          <a:prstGeom prst="rect">
            <a:avLst/>
          </a:prstGeom>
          <a:noFill/>
          <a:ln/>
        </p:spPr>
        <p:txBody>
          <a:bodyPr wrap="square" lIns="0" tIns="0" rIns="0" bIns="0" rtlCol="0" anchor="t"/>
          <a:lstStyle/>
          <a:p>
            <a:pPr indent="0" marL="0">
              <a:buNone/>
            </a:pPr>
            <a:r>
              <a:rPr lang="en-US" sz="1800" b="1" dirty="0">
                <a:solidFill>
                  <a:schemeClr val="tx2"/>
                </a:solidFill>
              </a:rPr>
              <a:t>Verify</a:t>
            </a:r>
            <a:endParaRPr lang="en-US" sz="1800" dirty="0"/>
          </a:p>
        </p:txBody>
      </p:sp>
      <p:sp>
        <p:nvSpPr>
          <p:cNvPr id="21" name="Text 16"/>
          <p:cNvSpPr txBox="1"/>
          <p:nvPr/>
        </p:nvSpPr>
        <p:spPr>
          <a:xfrm>
            <a:off x="4846320" y="2697480"/>
            <a:ext cx="1554480" cy="640080"/>
          </a:xfrm>
          <a:prstGeom prst="rect">
            <a:avLst/>
          </a:prstGeom>
          <a:noFill/>
          <a:ln/>
        </p:spPr>
        <p:txBody>
          <a:bodyPr wrap="square" lIns="0" tIns="0" rIns="0" bIns="0" rtlCol="0" anchor="t"/>
          <a:lstStyle/>
          <a:p>
            <a:pPr indent="0" marL="0">
              <a:buNone/>
            </a:pPr>
            <a:r>
              <a:rPr lang="en-US" sz="1400" dirty="0">
                <a:solidFill>
                  <a:schemeClr val="tx1"/>
                </a:solidFill>
              </a:rPr>
              <a:t>IR sensor sees pickup at the tray</a:t>
            </a:r>
            <a:endParaRPr lang="en-US" sz="1400" dirty="0"/>
          </a:p>
        </p:txBody>
      </p:sp>
      <p:sp>
        <p:nvSpPr>
          <p:cNvPr id="22" name="Card 13"/>
          <p:cNvSpPr/>
          <p:nvPr/>
        </p:nvSpPr>
        <p:spPr>
          <a:xfrm>
            <a:off x="6720840" y="1463040"/>
            <a:ext cx="1874520" cy="1965960"/>
          </a:xfrm>
          <a:prstGeom prst="roundRect">
            <a:avLst>
              <a:gd name="adj" fmla="val 5854"/>
            </a:avLst>
          </a:prstGeom>
          <a:solidFill>
            <a:schemeClr val="bg2"/>
          </a:solidFill>
          <a:ln w="12700">
            <a:solidFill>
              <a:schemeClr val="bg2"/>
            </a:solidFill>
            <a:prstDash val="solid"/>
          </a:ln>
        </p:spPr>
      </p:sp>
      <p:sp>
        <p:nvSpPr>
          <p:cNvPr id="23" name="Icon circle 14"/>
          <p:cNvSpPr/>
          <p:nvPr/>
        </p:nvSpPr>
        <p:spPr>
          <a:xfrm>
            <a:off x="6903720" y="1627632"/>
            <a:ext cx="548640" cy="548640"/>
          </a:xfrm>
          <a:prstGeom prst="ellipse">
            <a:avLst/>
          </a:prstGeom>
          <a:solidFill>
            <a:schemeClr val="accent2"/>
          </a:solidFill>
          <a:ln w="12700">
            <a:solidFill>
              <a:schemeClr val="accent2"/>
            </a:solidFill>
            <a:prstDash val="solid"/>
          </a:ln>
        </p:spPr>
      </p:sp>
      <p:pic>
        <p:nvPicPr>
          <p:cNvPr id="24" name="Image 3" descr="icon">    </p:cNvPr>
          <p:cNvPicPr>
            <a:picLocks noChangeAspect="1"/>
          </p:cNvPicPr>
          <p:nvPr/>
        </p:nvPicPr>
        <p:blipFill>
          <a:blip r:embed="rId4"/>
          <a:stretch>
            <a:fillRect/>
          </a:stretch>
        </p:blipFill>
        <p:spPr>
          <a:xfrm>
            <a:off x="7046366" y="1770278"/>
            <a:ext cx="263347" cy="263347"/>
          </a:xfrm>
          <a:prstGeom prst="rect">
            <a:avLst/>
          </a:prstGeom>
        </p:spPr>
      </p:pic>
      <p:sp>
        <p:nvSpPr>
          <p:cNvPr id="25" name="Step number 04"/>
          <p:cNvSpPr txBox="1"/>
          <p:nvPr/>
        </p:nvSpPr>
        <p:spPr>
          <a:xfrm>
            <a:off x="7818120" y="1691640"/>
            <a:ext cx="59436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dirty="0">
                <a:solidFill>
                  <a:schemeClr val="bg1"/>
                </a:solidFill>
              </a:rPr>
              <a:t>04</a:t>
            </a:r>
            <a:endParaRPr lang="en-US" sz="1200" dirty="0"/>
          </a:p>
        </p:txBody>
      </p:sp>
      <p:sp>
        <p:nvSpPr>
          <p:cNvPr id="26" name="Text 20"/>
          <p:cNvSpPr txBox="1"/>
          <p:nvPr/>
        </p:nvSpPr>
        <p:spPr>
          <a:xfrm>
            <a:off x="6903720" y="2331720"/>
            <a:ext cx="1554480" cy="320040"/>
          </a:xfrm>
          <a:prstGeom prst="rect">
            <a:avLst/>
          </a:prstGeom>
          <a:noFill/>
          <a:ln/>
        </p:spPr>
        <p:txBody>
          <a:bodyPr wrap="square" lIns="0" tIns="0" rIns="0" bIns="0" rtlCol="0" anchor="t"/>
          <a:lstStyle/>
          <a:p>
            <a:pPr indent="0" marL="0">
              <a:buNone/>
            </a:pPr>
            <a:r>
              <a:rPr lang="en-US" sz="1800" b="1" dirty="0">
                <a:solidFill>
                  <a:schemeClr val="tx2"/>
                </a:solidFill>
              </a:rPr>
              <a:t>Escalate</a:t>
            </a:r>
            <a:endParaRPr lang="en-US" sz="1800" dirty="0"/>
          </a:p>
        </p:txBody>
      </p:sp>
      <p:sp>
        <p:nvSpPr>
          <p:cNvPr id="27" name="Text 21"/>
          <p:cNvSpPr txBox="1"/>
          <p:nvPr/>
        </p:nvSpPr>
        <p:spPr>
          <a:xfrm>
            <a:off x="6903720" y="2697480"/>
            <a:ext cx="1554480" cy="640080"/>
          </a:xfrm>
          <a:prstGeom prst="rect">
            <a:avLst/>
          </a:prstGeom>
          <a:noFill/>
          <a:ln/>
        </p:spPr>
        <p:txBody>
          <a:bodyPr wrap="square" lIns="0" tIns="0" rIns="0" bIns="0" rtlCol="0" anchor="t"/>
          <a:lstStyle/>
          <a:p>
            <a:pPr indent="0" marL="0">
              <a:buNone/>
            </a:pPr>
            <a:r>
              <a:rPr lang="en-US" sz="1400" dirty="0">
                <a:solidFill>
                  <a:schemeClr val="tx1"/>
                </a:solidFill>
              </a:rPr>
              <a:t>Alarm and lamp alert the family</a:t>
            </a:r>
            <a:endParaRPr lang="en-US" sz="1400" dirty="0"/>
          </a:p>
        </p:txBody>
      </p:sp>
      <p:sp>
        <p:nvSpPr>
          <p:cNvPr id="28" name="Innovation band"/>
          <p:cNvSpPr/>
          <p:nvPr/>
        </p:nvSpPr>
        <p:spPr>
          <a:xfrm>
            <a:off x="548640" y="3611880"/>
            <a:ext cx="8046720" cy="1051560"/>
          </a:xfrm>
          <a:prstGeom prst="roundRect">
            <a:avLst>
              <a:gd name="adj" fmla="val 10435"/>
            </a:avLst>
          </a:prstGeom>
          <a:solidFill>
            <a:schemeClr val="tx2"/>
          </a:solidFill>
          <a:ln w="12700">
            <a:solidFill>
              <a:schemeClr val="tx2"/>
            </a:solidFill>
            <a:prstDash val="solid"/>
          </a:ln>
        </p:spPr>
      </p:sp>
      <p:sp>
        <p:nvSpPr>
          <p:cNvPr id="29" name="Text 23"/>
          <p:cNvSpPr txBox="1"/>
          <p:nvPr/>
        </p:nvSpPr>
        <p:spPr>
          <a:xfrm>
            <a:off x="777240" y="3703320"/>
            <a:ext cx="3657600" cy="201168"/>
          </a:xfrm>
          <a:prstGeom prst="rect">
            <a:avLst/>
          </a:prstGeom>
          <a:noFill/>
          <a:ln/>
        </p:spPr>
        <p:txBody>
          <a:bodyPr wrap="square" lIns="0" tIns="0" rIns="0" bIns="0" rtlCol="0" anchor="t"/>
          <a:lstStyle/>
          <a:p>
            <a:pPr indent="0" marL="0">
              <a:buNone/>
            </a:pPr>
            <a:r>
              <a:rPr lang="en-US" sz="1000" b="1" spc="100" kern="0" dirty="0">
                <a:solidFill>
                  <a:schemeClr val="accent5"/>
                </a:solidFill>
              </a:rPr>
              <a:t>WHAT MAKES IT DIFFERENT</a:t>
            </a:r>
            <a:endParaRPr lang="en-US" sz="1000" dirty="0"/>
          </a:p>
        </p:txBody>
      </p:sp>
      <p:sp>
        <p:nvSpPr>
          <p:cNvPr id="30" name="Text 24"/>
          <p:cNvSpPr txBox="1"/>
          <p:nvPr/>
        </p:nvSpPr>
        <p:spPr>
          <a:xfrm>
            <a:off x="777240" y="3977640"/>
            <a:ext cx="2468880" cy="274320"/>
          </a:xfrm>
          <a:prstGeom prst="rect">
            <a:avLst/>
          </a:prstGeom>
          <a:noFill/>
          <a:ln/>
        </p:spPr>
        <p:txBody>
          <a:bodyPr wrap="square" lIns="0" tIns="0" rIns="0" bIns="0" rtlCol="0" anchor="t"/>
          <a:lstStyle/>
          <a:p>
            <a:pPr indent="0" marL="0">
              <a:buNone/>
            </a:pPr>
            <a:r>
              <a:rPr lang="en-US" sz="1600" b="1" dirty="0">
                <a:solidFill>
                  <a:schemeClr val="bg1"/>
                </a:solidFill>
              </a:rPr>
              <a:t>Closed loop</a:t>
            </a:r>
            <a:endParaRPr lang="en-US" sz="1600" dirty="0"/>
          </a:p>
        </p:txBody>
      </p:sp>
      <p:sp>
        <p:nvSpPr>
          <p:cNvPr id="31" name="Text 25"/>
          <p:cNvSpPr txBox="1"/>
          <p:nvPr/>
        </p:nvSpPr>
        <p:spPr>
          <a:xfrm>
            <a:off x="777240" y="4270248"/>
            <a:ext cx="2468880" cy="274320"/>
          </a:xfrm>
          <a:prstGeom prst="rect">
            <a:avLst/>
          </a:prstGeom>
          <a:noFill/>
          <a:ln/>
        </p:spPr>
        <p:txBody>
          <a:bodyPr wrap="square" lIns="0" tIns="0" rIns="0" bIns="0" rtlCol="0" anchor="t"/>
          <a:lstStyle/>
          <a:p>
            <a:pPr indent="0" marL="0">
              <a:buNone/>
            </a:pPr>
            <a:r>
              <a:rPr lang="en-US" sz="1400" dirty="0">
                <a:solidFill>
                  <a:schemeClr val="bg2"/>
                </a:solidFill>
              </a:rPr>
              <a:t>Remind, verify, escalate</a:t>
            </a:r>
            <a:endParaRPr lang="en-US" sz="1400" dirty="0"/>
          </a:p>
        </p:txBody>
      </p:sp>
      <p:sp>
        <p:nvSpPr>
          <p:cNvPr id="32" name="Text 26"/>
          <p:cNvSpPr txBox="1"/>
          <p:nvPr/>
        </p:nvSpPr>
        <p:spPr>
          <a:xfrm>
            <a:off x="3474720" y="3977640"/>
            <a:ext cx="2468880" cy="274320"/>
          </a:xfrm>
          <a:prstGeom prst="rect">
            <a:avLst/>
          </a:prstGeom>
          <a:noFill/>
          <a:ln/>
        </p:spPr>
        <p:txBody>
          <a:bodyPr wrap="square" lIns="0" tIns="0" rIns="0" bIns="0" rtlCol="0" anchor="t"/>
          <a:lstStyle/>
          <a:p>
            <a:pPr indent="0" marL="0">
              <a:buNone/>
            </a:pPr>
            <a:r>
              <a:rPr lang="en-US" sz="1600" b="1" dirty="0">
                <a:solidFill>
                  <a:schemeClr val="bg1"/>
                </a:solidFill>
              </a:rPr>
              <a:t>Works offline</a:t>
            </a:r>
            <a:endParaRPr lang="en-US" sz="1600" dirty="0"/>
          </a:p>
        </p:txBody>
      </p:sp>
      <p:sp>
        <p:nvSpPr>
          <p:cNvPr id="33" name="Text 27"/>
          <p:cNvSpPr txBox="1"/>
          <p:nvPr/>
        </p:nvSpPr>
        <p:spPr>
          <a:xfrm>
            <a:off x="3474720" y="4270248"/>
            <a:ext cx="2468880" cy="274320"/>
          </a:xfrm>
          <a:prstGeom prst="rect">
            <a:avLst/>
          </a:prstGeom>
          <a:noFill/>
          <a:ln/>
        </p:spPr>
        <p:txBody>
          <a:bodyPr wrap="square" lIns="0" tIns="0" rIns="0" bIns="0" rtlCol="0" anchor="t"/>
          <a:lstStyle/>
          <a:p>
            <a:pPr indent="0" marL="0">
              <a:buNone/>
            </a:pPr>
            <a:r>
              <a:rPr lang="en-US" sz="1400" dirty="0">
                <a:solidFill>
                  <a:schemeClr val="bg2"/>
                </a:solidFill>
              </a:rPr>
              <a:t>Mega-based, no internet or app</a:t>
            </a:r>
            <a:endParaRPr lang="en-US" sz="1400" dirty="0"/>
          </a:p>
        </p:txBody>
      </p:sp>
      <p:sp>
        <p:nvSpPr>
          <p:cNvPr id="34" name="Text 28"/>
          <p:cNvSpPr txBox="1"/>
          <p:nvPr/>
        </p:nvSpPr>
        <p:spPr>
          <a:xfrm>
            <a:off x="6172200" y="3977640"/>
            <a:ext cx="2468880" cy="274320"/>
          </a:xfrm>
          <a:prstGeom prst="rect">
            <a:avLst/>
          </a:prstGeom>
          <a:noFill/>
          <a:ln/>
        </p:spPr>
        <p:txBody>
          <a:bodyPr wrap="square" lIns="0" tIns="0" rIns="0" bIns="0" rtlCol="0" anchor="t"/>
          <a:lstStyle/>
          <a:p>
            <a:pPr indent="0" marL="0">
              <a:buNone/>
            </a:pPr>
            <a:r>
              <a:rPr lang="en-US" sz="1600" b="1" dirty="0">
                <a:solidFill>
                  <a:schemeClr val="bg1"/>
                </a:solidFill>
              </a:rPr>
              <a:t>Low cost</a:t>
            </a:r>
            <a:endParaRPr lang="en-US" sz="1600" dirty="0"/>
          </a:p>
        </p:txBody>
      </p:sp>
      <p:sp>
        <p:nvSpPr>
          <p:cNvPr id="35" name="Text 29"/>
          <p:cNvSpPr txBox="1"/>
          <p:nvPr/>
        </p:nvSpPr>
        <p:spPr>
          <a:xfrm>
            <a:off x="6172200" y="4270248"/>
            <a:ext cx="2468880" cy="274320"/>
          </a:xfrm>
          <a:prstGeom prst="rect">
            <a:avLst/>
          </a:prstGeom>
          <a:noFill/>
          <a:ln/>
        </p:spPr>
        <p:txBody>
          <a:bodyPr wrap="square" lIns="0" tIns="0" rIns="0" bIns="0" rtlCol="0" anchor="t"/>
          <a:lstStyle/>
          <a:p>
            <a:pPr indent="0" marL="0">
              <a:buNone/>
            </a:pPr>
            <a:r>
              <a:rPr lang="en-US" sz="1400" dirty="0">
                <a:solidFill>
                  <a:schemeClr val="bg2"/>
                </a:solidFill>
              </a:rPr>
              <a:t>Target under ₹1,500 in parts</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riterion tag 15"/>
          <p:cNvSpPr txBox="1"/>
          <p:nvPr/>
        </p:nvSpPr>
        <p:spPr>
          <a:xfrm>
            <a:off x="548640" y="310896"/>
            <a:ext cx="4939589"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2 OF 5  |  PROPOSED SOLUTION &amp; INNOVATION</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Smart Features</a:t>
            </a:r>
            <a:endParaRPr lang="en-US" sz="3400" dirty="0"/>
          </a:p>
        </p:txBody>
      </p:sp>
      <p:sp>
        <p:nvSpPr>
          <p:cNvPr id="9" name="Card 18"/>
          <p:cNvSpPr/>
          <p:nvPr/>
        </p:nvSpPr>
        <p:spPr>
          <a:xfrm>
            <a:off x="548640" y="1417320"/>
            <a:ext cx="3931920" cy="1463040"/>
          </a:xfrm>
          <a:prstGeom prst="roundRect">
            <a:avLst>
              <a:gd name="adj" fmla="val 7500"/>
            </a:avLst>
          </a:prstGeom>
          <a:solidFill>
            <a:schemeClr val="bg2"/>
          </a:solidFill>
          <a:ln w="12700">
            <a:solidFill>
              <a:schemeClr val="bg2"/>
            </a:solidFill>
            <a:prstDash val="solid"/>
          </a:ln>
        </p:spPr>
      </p:sp>
      <p:sp>
        <p:nvSpPr>
          <p:cNvPr id="10" name="Icon circle 19"/>
          <p:cNvSpPr/>
          <p:nvPr/>
        </p:nvSpPr>
        <p:spPr>
          <a:xfrm>
            <a:off x="749808" y="1600200"/>
            <a:ext cx="594360" cy="594360"/>
          </a:xfrm>
          <a:prstGeom prst="ellipse">
            <a:avLst/>
          </a:prstGeom>
          <a:solidFill>
            <a:schemeClr val="accent1"/>
          </a:solidFill>
          <a:ln w="12700">
            <a:solidFill>
              <a:schemeClr val="accent1"/>
            </a:solidFill>
            <a:prstDash val="solid"/>
          </a:ln>
        </p:spPr>
      </p:sp>
      <p:pic>
        <p:nvPicPr>
          <p:cNvPr id="11" name="Image 1" descr="icon">    </p:cNvPr>
          <p:cNvPicPr>
            <a:picLocks noChangeAspect="1"/>
          </p:cNvPicPr>
          <p:nvPr/>
        </p:nvPicPr>
        <p:blipFill>
          <a:blip r:embed="rId2"/>
          <a:stretch>
            <a:fillRect/>
          </a:stretch>
        </p:blipFill>
        <p:spPr>
          <a:xfrm>
            <a:off x="904342" y="1754734"/>
            <a:ext cx="285293" cy="285293"/>
          </a:xfrm>
          <a:prstGeom prst="rect">
            <a:avLst/>
          </a:prstGeom>
        </p:spPr>
      </p:pic>
      <p:sp>
        <p:nvSpPr>
          <p:cNvPr id="12" name="Text 8"/>
          <p:cNvSpPr txBox="1"/>
          <p:nvPr/>
        </p:nvSpPr>
        <p:spPr>
          <a:xfrm>
            <a:off x="1554480" y="1581912"/>
            <a:ext cx="2743200" cy="320040"/>
          </a:xfrm>
          <a:prstGeom prst="rect">
            <a:avLst/>
          </a:prstGeom>
          <a:noFill/>
          <a:ln/>
        </p:spPr>
        <p:txBody>
          <a:bodyPr wrap="square" lIns="0" tIns="0" rIns="0" bIns="0" rtlCol="0" anchor="t"/>
          <a:lstStyle/>
          <a:p>
            <a:pPr indent="0" marL="0">
              <a:buNone/>
            </a:pPr>
            <a:r>
              <a:rPr lang="en-US" sz="1800" b="1" dirty="0">
                <a:solidFill>
                  <a:schemeClr val="tx2"/>
                </a:solidFill>
              </a:rPr>
              <a:t>Storage Guardian</a:t>
            </a:r>
            <a:endParaRPr lang="en-US" sz="1800" dirty="0"/>
          </a:p>
        </p:txBody>
      </p:sp>
      <p:sp>
        <p:nvSpPr>
          <p:cNvPr id="13" name="Text 9"/>
          <p:cNvSpPr txBox="1"/>
          <p:nvPr/>
        </p:nvSpPr>
        <p:spPr>
          <a:xfrm>
            <a:off x="1554480" y="1965960"/>
            <a:ext cx="2788920" cy="822960"/>
          </a:xfrm>
          <a:prstGeom prst="rect">
            <a:avLst/>
          </a:prstGeom>
          <a:noFill/>
          <a:ln/>
        </p:spPr>
        <p:txBody>
          <a:bodyPr wrap="square" lIns="0" tIns="0" rIns="0" bIns="0" rtlCol="0" anchor="t"/>
          <a:lstStyle/>
          <a:p>
            <a:pPr indent="0" marL="0">
              <a:buNone/>
            </a:pPr>
            <a:r>
              <a:rPr lang="en-US" sz="1400" dirty="0">
                <a:solidFill>
                  <a:schemeClr val="tx1"/>
                </a:solidFill>
              </a:rPr>
              <a:t>DHT11 shows temperature and humidity and warns if storage is unsafe</a:t>
            </a:r>
            <a:endParaRPr lang="en-US" sz="1400" dirty="0"/>
          </a:p>
        </p:txBody>
      </p:sp>
      <p:sp>
        <p:nvSpPr>
          <p:cNvPr id="14" name="Card 20"/>
          <p:cNvSpPr/>
          <p:nvPr/>
        </p:nvSpPr>
        <p:spPr>
          <a:xfrm>
            <a:off x="4663440" y="1417320"/>
            <a:ext cx="3931920" cy="1463040"/>
          </a:xfrm>
          <a:prstGeom prst="roundRect">
            <a:avLst>
              <a:gd name="adj" fmla="val 7500"/>
            </a:avLst>
          </a:prstGeom>
          <a:solidFill>
            <a:schemeClr val="bg2"/>
          </a:solidFill>
          <a:ln w="12700">
            <a:solidFill>
              <a:schemeClr val="bg2"/>
            </a:solidFill>
            <a:prstDash val="solid"/>
          </a:ln>
        </p:spPr>
      </p:sp>
      <p:sp>
        <p:nvSpPr>
          <p:cNvPr id="15" name="Icon circle 21"/>
          <p:cNvSpPr/>
          <p:nvPr/>
        </p:nvSpPr>
        <p:spPr>
          <a:xfrm>
            <a:off x="4864608" y="1600200"/>
            <a:ext cx="594360" cy="594360"/>
          </a:xfrm>
          <a:prstGeom prst="ellipse">
            <a:avLst/>
          </a:prstGeom>
          <a:solidFill>
            <a:schemeClr val="accent1"/>
          </a:solidFill>
          <a:ln w="12700">
            <a:solidFill>
              <a:schemeClr val="accent1"/>
            </a:solidFill>
            <a:prstDash val="solid"/>
          </a:ln>
        </p:spPr>
      </p:sp>
      <p:pic>
        <p:nvPicPr>
          <p:cNvPr id="16" name="Image 2" descr="icon">    </p:cNvPr>
          <p:cNvPicPr>
            <a:picLocks noChangeAspect="1"/>
          </p:cNvPicPr>
          <p:nvPr/>
        </p:nvPicPr>
        <p:blipFill>
          <a:blip r:embed="rId3"/>
          <a:stretch>
            <a:fillRect/>
          </a:stretch>
        </p:blipFill>
        <p:spPr>
          <a:xfrm>
            <a:off x="5019142" y="1754734"/>
            <a:ext cx="285293" cy="285293"/>
          </a:xfrm>
          <a:prstGeom prst="rect">
            <a:avLst/>
          </a:prstGeom>
        </p:spPr>
      </p:pic>
      <p:sp>
        <p:nvSpPr>
          <p:cNvPr id="17" name="Text 12"/>
          <p:cNvSpPr txBox="1"/>
          <p:nvPr/>
        </p:nvSpPr>
        <p:spPr>
          <a:xfrm>
            <a:off x="5669280" y="1581912"/>
            <a:ext cx="2743200" cy="320040"/>
          </a:xfrm>
          <a:prstGeom prst="rect">
            <a:avLst/>
          </a:prstGeom>
          <a:noFill/>
          <a:ln/>
        </p:spPr>
        <p:txBody>
          <a:bodyPr wrap="square" lIns="0" tIns="0" rIns="0" bIns="0" rtlCol="0" anchor="t"/>
          <a:lstStyle/>
          <a:p>
            <a:pPr indent="0" marL="0">
              <a:buNone/>
            </a:pPr>
            <a:r>
              <a:rPr lang="en-US" sz="1800" b="1" dirty="0">
                <a:solidFill>
                  <a:schemeClr val="tx2"/>
                </a:solidFill>
              </a:rPr>
              <a:t>Touch + Knob Controls</a:t>
            </a:r>
            <a:endParaRPr lang="en-US" sz="1800" dirty="0"/>
          </a:p>
        </p:txBody>
      </p:sp>
      <p:sp>
        <p:nvSpPr>
          <p:cNvPr id="18" name="Text 13"/>
          <p:cNvSpPr txBox="1"/>
          <p:nvPr/>
        </p:nvSpPr>
        <p:spPr>
          <a:xfrm>
            <a:off x="5669280" y="1965960"/>
            <a:ext cx="2788920" cy="822960"/>
          </a:xfrm>
          <a:prstGeom prst="rect">
            <a:avLst/>
          </a:prstGeom>
          <a:noFill/>
          <a:ln/>
        </p:spPr>
        <p:txBody>
          <a:bodyPr wrap="square" lIns="0" tIns="0" rIns="0" bIns="0" rtlCol="0" anchor="t"/>
          <a:lstStyle/>
          <a:p>
            <a:pPr indent="0" marL="0">
              <a:buNone/>
            </a:pPr>
            <a:r>
              <a:rPr lang="en-US" sz="1400" dirty="0">
                <a:solidFill>
                  <a:schemeClr val="tx1"/>
                </a:solidFill>
              </a:rPr>
              <a:t>4 touch buttons and a potentiometer set time, dose times and PIN digits</a:t>
            </a:r>
            <a:endParaRPr lang="en-US" sz="1400" dirty="0"/>
          </a:p>
        </p:txBody>
      </p:sp>
      <p:sp>
        <p:nvSpPr>
          <p:cNvPr id="19" name="Card 22"/>
          <p:cNvSpPr/>
          <p:nvPr/>
        </p:nvSpPr>
        <p:spPr>
          <a:xfrm>
            <a:off x="548640" y="3063240"/>
            <a:ext cx="3931920" cy="1463040"/>
          </a:xfrm>
          <a:prstGeom prst="roundRect">
            <a:avLst>
              <a:gd name="adj" fmla="val 7500"/>
            </a:avLst>
          </a:prstGeom>
          <a:solidFill>
            <a:schemeClr val="bg2"/>
          </a:solidFill>
          <a:ln w="12700">
            <a:solidFill>
              <a:schemeClr val="bg2"/>
            </a:solidFill>
            <a:prstDash val="solid"/>
          </a:ln>
        </p:spPr>
      </p:sp>
      <p:sp>
        <p:nvSpPr>
          <p:cNvPr id="20" name="Icon circle 23"/>
          <p:cNvSpPr/>
          <p:nvPr/>
        </p:nvSpPr>
        <p:spPr>
          <a:xfrm>
            <a:off x="749808" y="3246120"/>
            <a:ext cx="594360" cy="594360"/>
          </a:xfrm>
          <a:prstGeom prst="ellipse">
            <a:avLst/>
          </a:prstGeom>
          <a:solidFill>
            <a:schemeClr val="accent2"/>
          </a:solidFill>
          <a:ln w="12700">
            <a:solidFill>
              <a:schemeClr val="accent2"/>
            </a:solidFill>
            <a:prstDash val="solid"/>
          </a:ln>
        </p:spPr>
      </p:sp>
      <p:pic>
        <p:nvPicPr>
          <p:cNvPr id="21" name="Image 3" descr="icon">    </p:cNvPr>
          <p:cNvPicPr>
            <a:picLocks noChangeAspect="1"/>
          </p:cNvPicPr>
          <p:nvPr/>
        </p:nvPicPr>
        <p:blipFill>
          <a:blip r:embed="rId4"/>
          <a:stretch>
            <a:fillRect/>
          </a:stretch>
        </p:blipFill>
        <p:spPr>
          <a:xfrm>
            <a:off x="904342" y="3400654"/>
            <a:ext cx="285293" cy="285293"/>
          </a:xfrm>
          <a:prstGeom prst="rect">
            <a:avLst/>
          </a:prstGeom>
        </p:spPr>
      </p:pic>
      <p:sp>
        <p:nvSpPr>
          <p:cNvPr id="22" name="Text 16"/>
          <p:cNvSpPr txBox="1"/>
          <p:nvPr/>
        </p:nvSpPr>
        <p:spPr>
          <a:xfrm>
            <a:off x="1554480" y="3227832"/>
            <a:ext cx="2743200" cy="320040"/>
          </a:xfrm>
          <a:prstGeom prst="rect">
            <a:avLst/>
          </a:prstGeom>
          <a:noFill/>
          <a:ln/>
        </p:spPr>
        <p:txBody>
          <a:bodyPr wrap="square" lIns="0" tIns="0" rIns="0" bIns="0" rtlCol="0" anchor="t"/>
          <a:lstStyle/>
          <a:p>
            <a:pPr indent="0" marL="0">
              <a:buNone/>
            </a:pPr>
            <a:r>
              <a:rPr lang="en-US" sz="1800" b="1" dirty="0">
                <a:solidFill>
                  <a:schemeClr val="tx2"/>
                </a:solidFill>
              </a:rPr>
              <a:t>PIN Lock</a:t>
            </a:r>
            <a:endParaRPr lang="en-US" sz="1800" dirty="0"/>
          </a:p>
        </p:txBody>
      </p:sp>
      <p:sp>
        <p:nvSpPr>
          <p:cNvPr id="23" name="Text 17"/>
          <p:cNvSpPr txBox="1"/>
          <p:nvPr/>
        </p:nvSpPr>
        <p:spPr>
          <a:xfrm>
            <a:off x="1554480" y="3611880"/>
            <a:ext cx="2788920" cy="822960"/>
          </a:xfrm>
          <a:prstGeom prst="rect">
            <a:avLst/>
          </a:prstGeom>
          <a:noFill/>
          <a:ln/>
        </p:spPr>
        <p:txBody>
          <a:bodyPr wrap="square" lIns="0" tIns="0" rIns="0" bIns="0" rtlCol="0" anchor="t"/>
          <a:lstStyle/>
          <a:p>
            <a:pPr indent="0" marL="0">
              <a:buNone/>
            </a:pPr>
            <a:r>
              <a:rPr lang="en-US" sz="1400" dirty="0">
                <a:solidFill>
                  <a:schemeClr val="tx1"/>
                </a:solidFill>
              </a:rPr>
              <a:t>Needed to change settings or clear alerts; 3 wrong tries lock it for 30 s</a:t>
            </a:r>
            <a:endParaRPr lang="en-US" sz="1400" dirty="0"/>
          </a:p>
        </p:txBody>
      </p:sp>
      <p:sp>
        <p:nvSpPr>
          <p:cNvPr id="4" name="Card 16"/>
          <p:cNvSpPr/>
          <p:nvPr/>
        </p:nvSpPr>
        <p:spPr>
          <a:xfrm>
            <a:off x="4663440" y="3063240"/>
            <a:ext cx="3931920" cy="1463040"/>
          </a:xfrm>
          <a:prstGeom prst="roundRect">
            <a:avLst>
              <a:gd name="adj" fmla="val 7500"/>
            </a:avLst>
          </a:prstGeom>
          <a:solidFill>
            <a:schemeClr val="bg2"/>
          </a:solidFill>
          <a:ln w="12700">
            <a:solidFill>
              <a:schemeClr val="bg2"/>
            </a:solidFill>
            <a:prstDash val="solid"/>
          </a:ln>
        </p:spPr>
      </p:sp>
      <p:sp>
        <p:nvSpPr>
          <p:cNvPr id="5" name="Icon circle 17"/>
          <p:cNvSpPr/>
          <p:nvPr/>
        </p:nvSpPr>
        <p:spPr>
          <a:xfrm>
            <a:off x="4864608" y="3246120"/>
            <a:ext cx="594360" cy="59436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5019142" y="3400654"/>
            <a:ext cx="285293" cy="285293"/>
          </a:xfrm>
          <a:prstGeom prst="rect">
            <a:avLst/>
          </a:prstGeom>
        </p:spPr>
      </p:pic>
      <p:sp>
        <p:nvSpPr>
          <p:cNvPr id="7" name="Text 4"/>
          <p:cNvSpPr txBox="1"/>
          <p:nvPr/>
        </p:nvSpPr>
        <p:spPr>
          <a:xfrm>
            <a:off x="5669280" y="3227832"/>
            <a:ext cx="2743200" cy="320040"/>
          </a:xfrm>
          <a:prstGeom prst="rect">
            <a:avLst/>
          </a:prstGeom>
          <a:noFill/>
          <a:ln/>
        </p:spPr>
        <p:txBody>
          <a:bodyPr wrap="square" lIns="0" tIns="0" rIns="0" bIns="0" rtlCol="0" anchor="t"/>
          <a:lstStyle/>
          <a:p>
            <a:pPr indent="0" marL="0">
              <a:buNone/>
            </a:pPr>
            <a:r>
              <a:rPr lang="en-US" sz="1800" b="1" dirty="0">
                <a:solidFill>
                  <a:schemeClr val="tx2"/>
                </a:solidFill>
              </a:rPr>
              <a:t>Minor Illness Mode</a:t>
            </a:r>
            <a:endParaRPr lang="en-US" sz="1800" dirty="0"/>
          </a:p>
        </p:txBody>
      </p:sp>
      <p:sp>
        <p:nvSpPr>
          <p:cNvPr id="8" name="Text 5"/>
          <p:cNvSpPr txBox="1"/>
          <p:nvPr/>
        </p:nvSpPr>
        <p:spPr>
          <a:xfrm>
            <a:off x="5669280" y="3611880"/>
            <a:ext cx="2788920" cy="822960"/>
          </a:xfrm>
          <a:prstGeom prst="rect">
            <a:avLst/>
          </a:prstGeom>
          <a:noFill/>
          <a:ln/>
        </p:spPr>
        <p:txBody>
          <a:bodyPr wrap="square" lIns="0" tIns="0" rIns="0" bIns="0" rtlCol="0" anchor="t"/>
          <a:lstStyle/>
          <a:p>
            <a:pPr indent="0" marL="0">
              <a:buNone/>
            </a:pPr>
            <a:r>
              <a:rPr lang="en-US" sz="1400" dirty="0">
                <a:solidFill>
                  <a:schemeClr val="tx1"/>
                </a:solidFill>
              </a:rPr>
              <a:t>Pick an illness on the LCD, see the saved prescription, take the shown medicines from the opened box</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riterion tag 24"/>
          <p:cNvSpPr txBox="1"/>
          <p:nvPr/>
        </p:nvSpPr>
        <p:spPr>
          <a:xfrm>
            <a:off x="548640" y="310896"/>
            <a:ext cx="4414723"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3 OF 5  |  WORKING &amp; SYSTEM DESIGN</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System Design</a:t>
            </a:r>
            <a:endParaRPr lang="en-US" sz="3400" dirty="0"/>
          </a:p>
        </p:txBody>
      </p:sp>
      <p:sp>
        <p:nvSpPr>
          <p:cNvPr id="4" name="Column head INPUTS"/>
          <p:cNvSpPr txBox="1"/>
          <p:nvPr/>
        </p:nvSpPr>
        <p:spPr>
          <a:xfrm>
            <a:off x="548640" y="1417320"/>
            <a:ext cx="237744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spc="100" kern="0" dirty="0">
                <a:solidFill>
                  <a:schemeClr val="bg1"/>
                </a:solidFill>
              </a:rPr>
              <a:t>INPUTS</a:t>
            </a:r>
            <a:endParaRPr lang="en-US" sz="1100" dirty="0"/>
          </a:p>
        </p:txBody>
      </p:sp>
      <p:sp>
        <p:nvSpPr>
          <p:cNvPr id="5" name="Column head CONTROLLER"/>
          <p:cNvSpPr txBox="1"/>
          <p:nvPr/>
        </p:nvSpPr>
        <p:spPr>
          <a:xfrm>
            <a:off x="3383280" y="1417320"/>
            <a:ext cx="237744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spc="100" kern="0" dirty="0">
                <a:solidFill>
                  <a:schemeClr val="bg1"/>
                </a:solidFill>
              </a:rPr>
              <a:t>CONTROLLER</a:t>
            </a:r>
            <a:endParaRPr lang="en-US" sz="1100" dirty="0"/>
          </a:p>
        </p:txBody>
      </p:sp>
      <p:sp>
        <p:nvSpPr>
          <p:cNvPr id="6" name="Column head OUTPUTS"/>
          <p:cNvSpPr txBox="1"/>
          <p:nvPr/>
        </p:nvSpPr>
        <p:spPr>
          <a:xfrm>
            <a:off x="6217920" y="1417320"/>
            <a:ext cx="237744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100" b="1" spc="100" kern="0" dirty="0">
                <a:solidFill>
                  <a:schemeClr val="bg1"/>
                </a:solidFill>
              </a:rPr>
              <a:t>OUTPUTS</a:t>
            </a:r>
            <a:endParaRPr lang="en-US" sz="1100" dirty="0"/>
          </a:p>
        </p:txBody>
      </p:sp>
      <p:sp>
        <p:nvSpPr>
          <p:cNvPr id="7" name="Card 25"/>
          <p:cNvSpPr/>
          <p:nvPr/>
        </p:nvSpPr>
        <p:spPr>
          <a:xfrm>
            <a:off x="548640" y="1810512"/>
            <a:ext cx="2377440" cy="347472"/>
          </a:xfrm>
          <a:prstGeom prst="roundRect">
            <a:avLst>
              <a:gd name="adj" fmla="val 31579"/>
            </a:avLst>
          </a:prstGeom>
          <a:solidFill>
            <a:schemeClr val="bg2"/>
          </a:solidFill>
          <a:ln w="12700">
            <a:solidFill>
              <a:schemeClr val="bg2"/>
            </a:solidFill>
            <a:prstDash val="solid"/>
          </a:ln>
        </p:spPr>
      </p:sp>
      <p:sp>
        <p:nvSpPr>
          <p:cNvPr id="8" name="Text 6"/>
          <p:cNvSpPr txBox="1"/>
          <p:nvPr/>
        </p:nvSpPr>
        <p:spPr>
          <a:xfrm>
            <a:off x="548640" y="1810512"/>
            <a:ext cx="2377440" cy="347472"/>
          </a:xfrm>
          <a:prstGeom prst="rect">
            <a:avLst/>
          </a:prstGeom>
          <a:noFill/>
          <a:ln/>
        </p:spPr>
        <p:txBody>
          <a:bodyPr wrap="square" lIns="0" tIns="0" rIns="0" bIns="0" rtlCol="0" anchor="ctr"/>
          <a:lstStyle/>
          <a:p>
            <a:pPr algn="ctr" indent="0" marL="0">
              <a:buNone/>
            </a:pPr>
            <a:r>
              <a:rPr lang="en-US" sz="1400" dirty="0">
                <a:solidFill>
                  <a:schemeClr val="tx1"/>
                </a:solidFill>
              </a:rPr>
              <a:t>IR tray sensor</a:t>
            </a:r>
            <a:endParaRPr lang="en-US" sz="1400" dirty="0"/>
          </a:p>
        </p:txBody>
      </p:sp>
      <p:sp>
        <p:nvSpPr>
          <p:cNvPr id="11" name="Card 27"/>
          <p:cNvSpPr/>
          <p:nvPr/>
        </p:nvSpPr>
        <p:spPr>
          <a:xfrm>
            <a:off x="548640" y="2231136"/>
            <a:ext cx="2377440" cy="347472"/>
          </a:xfrm>
          <a:prstGeom prst="roundRect">
            <a:avLst>
              <a:gd name="adj" fmla="val 31579"/>
            </a:avLst>
          </a:prstGeom>
          <a:solidFill>
            <a:schemeClr val="bg2"/>
          </a:solidFill>
          <a:ln w="12700">
            <a:solidFill>
              <a:schemeClr val="bg2"/>
            </a:solidFill>
            <a:prstDash val="solid"/>
          </a:ln>
        </p:spPr>
      </p:sp>
      <p:sp>
        <p:nvSpPr>
          <p:cNvPr id="12" name="Text 10"/>
          <p:cNvSpPr txBox="1"/>
          <p:nvPr/>
        </p:nvSpPr>
        <p:spPr>
          <a:xfrm>
            <a:off x="548640" y="2231136"/>
            <a:ext cx="2377440" cy="347472"/>
          </a:xfrm>
          <a:prstGeom prst="rect">
            <a:avLst/>
          </a:prstGeom>
          <a:noFill/>
          <a:ln/>
        </p:spPr>
        <p:txBody>
          <a:bodyPr wrap="square" lIns="0" tIns="0" rIns="0" bIns="0" rtlCol="0" anchor="ctr"/>
          <a:lstStyle/>
          <a:p>
            <a:pPr algn="ctr" indent="0" marL="0">
              <a:buNone/>
            </a:pPr>
            <a:r>
              <a:rPr lang="en-US" sz="1400" dirty="0">
                <a:solidFill>
                  <a:schemeClr val="tx1"/>
                </a:solidFill>
              </a:rPr>
              <a:t>DHT11 temp / humidity</a:t>
            </a:r>
            <a:endParaRPr lang="en-US" sz="1400" dirty="0"/>
          </a:p>
        </p:txBody>
      </p:sp>
      <p:sp>
        <p:nvSpPr>
          <p:cNvPr id="13" name="Card 28"/>
          <p:cNvSpPr/>
          <p:nvPr/>
        </p:nvSpPr>
        <p:spPr>
          <a:xfrm>
            <a:off x="548640" y="2651760"/>
            <a:ext cx="2377440" cy="347472"/>
          </a:xfrm>
          <a:prstGeom prst="roundRect">
            <a:avLst>
              <a:gd name="adj" fmla="val 31579"/>
            </a:avLst>
          </a:prstGeom>
          <a:solidFill>
            <a:schemeClr val="bg2"/>
          </a:solidFill>
          <a:ln w="12700">
            <a:solidFill>
              <a:schemeClr val="bg2"/>
            </a:solidFill>
            <a:prstDash val="solid"/>
          </a:ln>
        </p:spPr>
      </p:sp>
      <p:sp>
        <p:nvSpPr>
          <p:cNvPr id="14" name="Text 12"/>
          <p:cNvSpPr txBox="1"/>
          <p:nvPr/>
        </p:nvSpPr>
        <p:spPr>
          <a:xfrm>
            <a:off x="548640" y="2651760"/>
            <a:ext cx="2377440" cy="347472"/>
          </a:xfrm>
          <a:prstGeom prst="rect">
            <a:avLst/>
          </a:prstGeom>
          <a:noFill/>
          <a:ln/>
        </p:spPr>
        <p:txBody>
          <a:bodyPr wrap="square" lIns="0" tIns="0" rIns="0" bIns="0" rtlCol="0" anchor="ctr"/>
          <a:lstStyle/>
          <a:p>
            <a:pPr algn="ctr" indent="0" marL="0">
              <a:buNone/>
            </a:pPr>
            <a:r>
              <a:rPr lang="en-US" sz="1400" dirty="0">
                <a:solidFill>
                  <a:schemeClr val="tx1"/>
                </a:solidFill>
              </a:rPr>
              <a:t>4 touch buttons</a:t>
            </a:r>
            <a:endParaRPr lang="en-US" sz="1400" dirty="0"/>
          </a:p>
        </p:txBody>
      </p:sp>
      <p:sp>
        <p:nvSpPr>
          <p:cNvPr id="15" name="Card 29"/>
          <p:cNvSpPr/>
          <p:nvPr/>
        </p:nvSpPr>
        <p:spPr>
          <a:xfrm>
            <a:off x="548640" y="3072384"/>
            <a:ext cx="2377440" cy="347472"/>
          </a:xfrm>
          <a:prstGeom prst="roundRect">
            <a:avLst>
              <a:gd name="adj" fmla="val 31579"/>
            </a:avLst>
          </a:prstGeom>
          <a:solidFill>
            <a:schemeClr val="bg2"/>
          </a:solidFill>
          <a:ln w="12700">
            <a:solidFill>
              <a:schemeClr val="bg2"/>
            </a:solidFill>
            <a:prstDash val="solid"/>
          </a:ln>
        </p:spPr>
      </p:sp>
      <p:sp>
        <p:nvSpPr>
          <p:cNvPr id="16" name="Text 14"/>
          <p:cNvSpPr txBox="1"/>
          <p:nvPr/>
        </p:nvSpPr>
        <p:spPr>
          <a:xfrm>
            <a:off x="548640" y="3072384"/>
            <a:ext cx="2377440" cy="347472"/>
          </a:xfrm>
          <a:prstGeom prst="rect">
            <a:avLst/>
          </a:prstGeom>
          <a:noFill/>
          <a:ln/>
        </p:spPr>
        <p:txBody>
          <a:bodyPr wrap="square" lIns="0" tIns="0" rIns="0" bIns="0" rtlCol="0" anchor="ctr"/>
          <a:lstStyle/>
          <a:p>
            <a:pPr algn="ctr" indent="0" marL="0">
              <a:buNone/>
            </a:pPr>
            <a:r>
              <a:rPr lang="en-US" sz="1400" dirty="0">
                <a:solidFill>
                  <a:schemeClr val="tx1"/>
                </a:solidFill>
              </a:rPr>
              <a:t>Potentiometer knob</a:t>
            </a:r>
            <a:endParaRPr lang="en-US" sz="1400" dirty="0"/>
          </a:p>
        </p:txBody>
      </p:sp>
      <p:sp>
        <p:nvSpPr>
          <p:cNvPr id="17" name="Card 30"/>
          <p:cNvSpPr/>
          <p:nvPr/>
        </p:nvSpPr>
        <p:spPr>
          <a:xfrm>
            <a:off x="548640" y="3493008"/>
            <a:ext cx="2377440" cy="347472"/>
          </a:xfrm>
          <a:prstGeom prst="roundRect">
            <a:avLst>
              <a:gd name="adj" fmla="val 31579"/>
            </a:avLst>
          </a:prstGeom>
          <a:solidFill>
            <a:schemeClr val="bg2"/>
          </a:solidFill>
          <a:ln w="12700">
            <a:solidFill>
              <a:schemeClr val="bg2"/>
            </a:solidFill>
            <a:prstDash val="solid"/>
          </a:ln>
        </p:spPr>
      </p:sp>
      <p:sp>
        <p:nvSpPr>
          <p:cNvPr id="18" name="Text 16"/>
          <p:cNvSpPr txBox="1"/>
          <p:nvPr/>
        </p:nvSpPr>
        <p:spPr>
          <a:xfrm>
            <a:off x="548640" y="3493008"/>
            <a:ext cx="2377440" cy="347472"/>
          </a:xfrm>
          <a:prstGeom prst="rect">
            <a:avLst/>
          </a:prstGeom>
          <a:noFill/>
          <a:ln/>
        </p:spPr>
        <p:txBody>
          <a:bodyPr wrap="square" lIns="0" tIns="0" rIns="0" bIns="0" rtlCol="0" anchor="ctr"/>
          <a:lstStyle/>
          <a:p>
            <a:pPr algn="ctr" indent="0" marL="0">
              <a:buNone/>
            </a:pPr>
            <a:r>
              <a:rPr lang="en-US" sz="1400" dirty="0">
                <a:solidFill>
                  <a:schemeClr val="tx1"/>
                </a:solidFill>
              </a:rPr>
              <a:t>Software clock</a:t>
            </a:r>
            <a:endParaRPr lang="en-US" sz="1400" dirty="0"/>
          </a:p>
        </p:txBody>
      </p:sp>
      <p:sp>
        <p:nvSpPr>
          <p:cNvPr id="19" name="Text 17"/>
          <p:cNvSpPr txBox="1"/>
          <p:nvPr/>
        </p:nvSpPr>
        <p:spPr>
          <a:xfrm>
            <a:off x="548640" y="3913632"/>
            <a:ext cx="2377440" cy="384048"/>
          </a:xfrm>
          <a:prstGeom prst="rect">
            <a:avLst/>
          </a:prstGeom>
          <a:noFill/>
          <a:ln/>
        </p:spPr>
        <p:txBody>
          <a:bodyPr wrap="square" lIns="0" tIns="0" rIns="0" bIns="0" rtlCol="0" anchor="t"/>
          <a:lstStyle/>
          <a:p>
            <a:pPr indent="0" marL="0">
              <a:buNone/>
            </a:pPr>
            <a:r>
              <a:rPr lang="en-US" sz="1200" i="1" dirty="0">
                <a:solidFill>
                  <a:schemeClr val="accent6"/>
                </a:solidFill>
              </a:rPr>
              <a:t>Servos run from their own regulated 5 V supply with a common ground</a:t>
            </a:r>
            <a:endParaRPr lang="en-US" sz="1200" dirty="0"/>
          </a:p>
        </p:txBody>
      </p:sp>
      <p:sp>
        <p:nvSpPr>
          <p:cNvPr id="20" name="Controller card"/>
          <p:cNvSpPr/>
          <p:nvPr/>
        </p:nvSpPr>
        <p:spPr>
          <a:xfrm>
            <a:off x="3383280" y="1828800"/>
            <a:ext cx="2377440" cy="2651760"/>
          </a:xfrm>
          <a:prstGeom prst="roundRect">
            <a:avLst>
              <a:gd name="adj" fmla="val 4615"/>
            </a:avLst>
          </a:prstGeom>
          <a:solidFill>
            <a:schemeClr val="accent1"/>
          </a:solidFill>
          <a:ln w="12700">
            <a:solidFill>
              <a:schemeClr val="accent1"/>
            </a:solidFill>
            <a:prstDash val="solid"/>
          </a:ln>
        </p:spPr>
      </p:sp>
      <p:sp>
        <p:nvSpPr>
          <p:cNvPr id="21" name="Icon circle 31"/>
          <p:cNvSpPr/>
          <p:nvPr/>
        </p:nvSpPr>
        <p:spPr>
          <a:xfrm>
            <a:off x="4251960" y="2057400"/>
            <a:ext cx="640080" cy="640080"/>
          </a:xfrm>
          <a:prstGeom prst="ellipse">
            <a:avLst/>
          </a:prstGeom>
          <a:solidFill>
            <a:schemeClr val="tx2"/>
          </a:solidFill>
          <a:ln w="12700">
            <a:solidFill>
              <a:schemeClr val="tx2"/>
            </a:solidFill>
            <a:prstDash val="solid"/>
          </a:ln>
        </p:spPr>
      </p:sp>
      <p:pic>
        <p:nvPicPr>
          <p:cNvPr id="22" name="Image 0" descr="icon">    </p:cNvPr>
          <p:cNvPicPr>
            <a:picLocks noChangeAspect="1"/>
          </p:cNvPicPr>
          <p:nvPr/>
        </p:nvPicPr>
        <p:blipFill>
          <a:blip r:embed="rId1"/>
          <a:stretch>
            <a:fillRect/>
          </a:stretch>
        </p:blipFill>
        <p:spPr>
          <a:xfrm>
            <a:off x="4418381" y="2223821"/>
            <a:ext cx="307238" cy="307238"/>
          </a:xfrm>
          <a:prstGeom prst="rect">
            <a:avLst/>
          </a:prstGeom>
        </p:spPr>
      </p:pic>
      <p:sp>
        <p:nvSpPr>
          <p:cNvPr id="23" name="Text 20"/>
          <p:cNvSpPr txBox="1"/>
          <p:nvPr/>
        </p:nvSpPr>
        <p:spPr>
          <a:xfrm>
            <a:off x="3474720" y="2880360"/>
            <a:ext cx="2194560" cy="365760"/>
          </a:xfrm>
          <a:prstGeom prst="rect">
            <a:avLst/>
          </a:prstGeom>
          <a:noFill/>
          <a:ln/>
        </p:spPr>
        <p:txBody>
          <a:bodyPr wrap="square" lIns="0" tIns="0" rIns="0" bIns="0" rtlCol="0" anchor="t"/>
          <a:lstStyle/>
          <a:p>
            <a:pPr algn="ctr" indent="0" marL="0">
              <a:buNone/>
            </a:pPr>
            <a:r>
              <a:rPr lang="en-US" sz="2000" b="1" dirty="0">
                <a:solidFill>
                  <a:schemeClr val="bg1"/>
                </a:solidFill>
              </a:rPr>
              <a:t>Arduino Mega</a:t>
            </a:r>
            <a:endParaRPr lang="en-US" sz="2000" dirty="0"/>
          </a:p>
        </p:txBody>
      </p:sp>
      <p:sp>
        <p:nvSpPr>
          <p:cNvPr id="24" name="Text 21"/>
          <p:cNvSpPr txBox="1"/>
          <p:nvPr/>
        </p:nvSpPr>
        <p:spPr>
          <a:xfrm>
            <a:off x="3566160" y="3337560"/>
            <a:ext cx="2011680" cy="640080"/>
          </a:xfrm>
          <a:prstGeom prst="rect">
            <a:avLst/>
          </a:prstGeom>
          <a:noFill/>
          <a:ln/>
        </p:spPr>
        <p:txBody>
          <a:bodyPr wrap="square" lIns="0" tIns="0" rIns="0" bIns="0" rtlCol="0" anchor="t"/>
          <a:lstStyle/>
          <a:p>
            <a:pPr algn="ctr" indent="0" marL="0">
              <a:buNone/>
            </a:pPr>
            <a:r>
              <a:rPr lang="en-US" sz="1400" dirty="0">
                <a:solidFill>
                  <a:schemeClr val="bg1"/>
                </a:solidFill>
              </a:rPr>
              <a:t>State machine: IDLE, WAITING, ALERT</a:t>
            </a:r>
            <a:endParaRPr lang="en-US" sz="1400" dirty="0"/>
          </a:p>
        </p:txBody>
      </p:sp>
      <p:sp>
        <p:nvSpPr>
          <p:cNvPr id="25" name="Arrow 32"/>
          <p:cNvSpPr/>
          <p:nvPr/>
        </p:nvSpPr>
        <p:spPr>
          <a:xfrm>
            <a:off x="2971800" y="3154680"/>
            <a:ext cx="365760" cy="0"/>
          </a:xfrm>
          <a:prstGeom prst="line">
            <a:avLst/>
          </a:prstGeom>
          <a:noFill/>
          <a:ln w="28575">
            <a:solidFill>
              <a:schemeClr val="accent1"/>
            </a:solidFill>
            <a:prstDash val="solid"/>
            <a:tailEnd type="triangle"/>
          </a:ln>
        </p:spPr>
      </p:sp>
      <p:sp>
        <p:nvSpPr>
          <p:cNvPr id="26" name="Arrow 33"/>
          <p:cNvSpPr/>
          <p:nvPr/>
        </p:nvSpPr>
        <p:spPr>
          <a:xfrm>
            <a:off x="5806440" y="3154680"/>
            <a:ext cx="365760" cy="0"/>
          </a:xfrm>
          <a:prstGeom prst="line">
            <a:avLst/>
          </a:prstGeom>
          <a:noFill/>
          <a:ln w="28575">
            <a:solidFill>
              <a:schemeClr val="accent1"/>
            </a:solidFill>
            <a:prstDash val="solid"/>
            <a:tailEnd type="triangle"/>
          </a:ln>
        </p:spPr>
      </p:sp>
      <p:sp>
        <p:nvSpPr>
          <p:cNvPr id="27" name="Card 34"/>
          <p:cNvSpPr/>
          <p:nvPr/>
        </p:nvSpPr>
        <p:spPr>
          <a:xfrm>
            <a:off x="6217920" y="1828800"/>
            <a:ext cx="2377440" cy="365760"/>
          </a:xfrm>
          <a:prstGeom prst="roundRect">
            <a:avLst>
              <a:gd name="adj" fmla="val 24000"/>
            </a:avLst>
          </a:prstGeom>
          <a:solidFill>
            <a:schemeClr val="bg2"/>
          </a:solidFill>
          <a:ln w="12700">
            <a:solidFill>
              <a:schemeClr val="bg2"/>
            </a:solidFill>
            <a:prstDash val="solid"/>
          </a:ln>
        </p:spPr>
      </p:sp>
      <p:sp>
        <p:nvSpPr>
          <p:cNvPr id="28" name="Text 25"/>
          <p:cNvSpPr txBox="1"/>
          <p:nvPr/>
        </p:nvSpPr>
        <p:spPr>
          <a:xfrm>
            <a:off x="6217920" y="1828800"/>
            <a:ext cx="2377440" cy="365760"/>
          </a:xfrm>
          <a:prstGeom prst="rect">
            <a:avLst/>
          </a:prstGeom>
          <a:noFill/>
          <a:ln/>
        </p:spPr>
        <p:txBody>
          <a:bodyPr wrap="square" lIns="0" tIns="0" rIns="0" bIns="0" rtlCol="0" anchor="ctr"/>
          <a:lstStyle/>
          <a:p>
            <a:pPr algn="ctr" indent="0" marL="0">
              <a:buNone/>
            </a:pPr>
            <a:r>
              <a:rPr lang="en-US" sz="1400" dirty="0">
                <a:solidFill>
                  <a:schemeClr val="tx1"/>
                </a:solidFill>
              </a:rPr>
              <a:t>Servo pill disc</a:t>
            </a:r>
            <a:endParaRPr lang="en-US" sz="1400" dirty="0"/>
          </a:p>
        </p:txBody>
      </p:sp>
      <p:sp>
        <p:nvSpPr>
          <p:cNvPr id="37" name="Card 40"/>
          <p:cNvSpPr/>
          <p:nvPr/>
        </p:nvSpPr>
        <p:spPr>
          <a:xfrm>
            <a:off x="6217920" y="2286000"/>
            <a:ext cx="2377440" cy="365760"/>
          </a:xfrm>
          <a:prstGeom prst="roundRect">
            <a:avLst>
              <a:gd name="adj" fmla="val 24000"/>
            </a:avLst>
          </a:prstGeom>
          <a:solidFill>
            <a:schemeClr val="bg2"/>
          </a:solidFill>
          <a:ln w="12700">
            <a:solidFill>
              <a:schemeClr val="bg2"/>
            </a:solidFill>
            <a:prstDash val="solid"/>
          </a:ln>
        </p:spPr>
      </p:sp>
      <p:sp>
        <p:nvSpPr>
          <p:cNvPr id="38" name="Text 41"/>
          <p:cNvSpPr txBox="1"/>
          <p:nvPr/>
        </p:nvSpPr>
        <p:spPr>
          <a:xfrm>
            <a:off x="6217920" y="2286000"/>
            <a:ext cx="2377440" cy="365760"/>
          </a:xfrm>
          <a:prstGeom prst="rect">
            <a:avLst/>
          </a:prstGeom>
          <a:noFill/>
          <a:ln/>
        </p:spPr>
        <p:txBody>
          <a:bodyPr wrap="square" lIns="0" tIns="0" rIns="0" bIns="0" rtlCol="0" anchor="ctr"/>
          <a:lstStyle/>
          <a:p>
            <a:pPr algn="ctr" indent="0" marL="0">
              <a:buNone/>
            </a:pPr>
            <a:r>
              <a:rPr lang="en-US" sz="1400" dirty="0">
                <a:solidFill>
                  <a:schemeClr val="tx1"/>
                </a:solidFill>
              </a:rPr>
              <a:t>Servo: box lid</a:t>
            </a:r>
            <a:endParaRPr lang="en-US" sz="1400" dirty="0"/>
          </a:p>
        </p:txBody>
      </p:sp>
      <p:sp>
        <p:nvSpPr>
          <p:cNvPr id="29" name="Card 35"/>
          <p:cNvSpPr/>
          <p:nvPr/>
        </p:nvSpPr>
        <p:spPr>
          <a:xfrm>
            <a:off x="6217920" y="2743200"/>
            <a:ext cx="2377440" cy="365760"/>
          </a:xfrm>
          <a:prstGeom prst="roundRect">
            <a:avLst>
              <a:gd name="adj" fmla="val 24000"/>
            </a:avLst>
          </a:prstGeom>
          <a:solidFill>
            <a:schemeClr val="bg2"/>
          </a:solidFill>
          <a:ln w="12700">
            <a:solidFill>
              <a:schemeClr val="bg2"/>
            </a:solidFill>
            <a:prstDash val="solid"/>
          </a:ln>
        </p:spPr>
      </p:sp>
      <p:sp>
        <p:nvSpPr>
          <p:cNvPr id="30" name="Text 27"/>
          <p:cNvSpPr txBox="1"/>
          <p:nvPr/>
        </p:nvSpPr>
        <p:spPr>
          <a:xfrm>
            <a:off x="6217920" y="2743200"/>
            <a:ext cx="2377440" cy="365760"/>
          </a:xfrm>
          <a:prstGeom prst="rect">
            <a:avLst/>
          </a:prstGeom>
          <a:noFill/>
          <a:ln/>
        </p:spPr>
        <p:txBody>
          <a:bodyPr wrap="square" lIns="0" tIns="0" rIns="0" bIns="0" rtlCol="0" anchor="ctr"/>
          <a:lstStyle/>
          <a:p>
            <a:pPr algn="ctr" indent="0" marL="0">
              <a:buNone/>
            </a:pPr>
            <a:r>
              <a:rPr lang="en-US" sz="1400" dirty="0">
                <a:solidFill>
                  <a:schemeClr val="tx1"/>
                </a:solidFill>
              </a:rPr>
              <a:t>LCD: time, temp, humidity</a:t>
            </a:r>
            <a:endParaRPr lang="en-US" sz="1400" dirty="0"/>
          </a:p>
        </p:txBody>
      </p:sp>
      <p:sp>
        <p:nvSpPr>
          <p:cNvPr id="31" name="Card 36"/>
          <p:cNvSpPr/>
          <p:nvPr/>
        </p:nvSpPr>
        <p:spPr>
          <a:xfrm>
            <a:off x="6217920" y="3200400"/>
            <a:ext cx="2377440" cy="365760"/>
          </a:xfrm>
          <a:prstGeom prst="roundRect">
            <a:avLst>
              <a:gd name="adj" fmla="val 24000"/>
            </a:avLst>
          </a:prstGeom>
          <a:solidFill>
            <a:schemeClr val="bg2"/>
          </a:solidFill>
          <a:ln w="12700">
            <a:solidFill>
              <a:schemeClr val="bg2"/>
            </a:solidFill>
            <a:prstDash val="solid"/>
          </a:ln>
        </p:spPr>
      </p:sp>
      <p:sp>
        <p:nvSpPr>
          <p:cNvPr id="32" name="Text 29"/>
          <p:cNvSpPr txBox="1"/>
          <p:nvPr/>
        </p:nvSpPr>
        <p:spPr>
          <a:xfrm>
            <a:off x="6217920" y="3200400"/>
            <a:ext cx="2377440" cy="365760"/>
          </a:xfrm>
          <a:prstGeom prst="rect">
            <a:avLst/>
          </a:prstGeom>
          <a:noFill/>
          <a:ln/>
        </p:spPr>
        <p:txBody>
          <a:bodyPr wrap="square" lIns="0" tIns="0" rIns="0" bIns="0" rtlCol="0" anchor="ctr"/>
          <a:lstStyle/>
          <a:p>
            <a:pPr algn="ctr" indent="0" marL="0">
              <a:buNone/>
            </a:pPr>
            <a:r>
              <a:rPr lang="en-US" sz="1400" dirty="0">
                <a:solidFill>
                  <a:schemeClr val="tx1"/>
                </a:solidFill>
              </a:rPr>
              <a:t>RGB status light</a:t>
            </a:r>
            <a:endParaRPr lang="en-US" sz="1400" dirty="0"/>
          </a:p>
        </p:txBody>
      </p:sp>
      <p:sp>
        <p:nvSpPr>
          <p:cNvPr id="33" name="Card 37"/>
          <p:cNvSpPr/>
          <p:nvPr/>
        </p:nvSpPr>
        <p:spPr>
          <a:xfrm>
            <a:off x="6217920" y="3657600"/>
            <a:ext cx="2377440" cy="365760"/>
          </a:xfrm>
          <a:prstGeom prst="roundRect">
            <a:avLst>
              <a:gd name="adj" fmla="val 24000"/>
            </a:avLst>
          </a:prstGeom>
          <a:solidFill>
            <a:schemeClr val="bg2"/>
          </a:solidFill>
          <a:ln w="12700">
            <a:solidFill>
              <a:schemeClr val="bg2"/>
            </a:solidFill>
            <a:prstDash val="solid"/>
          </a:ln>
        </p:spPr>
      </p:sp>
      <p:sp>
        <p:nvSpPr>
          <p:cNvPr id="34" name="Text 31"/>
          <p:cNvSpPr txBox="1"/>
          <p:nvPr/>
        </p:nvSpPr>
        <p:spPr>
          <a:xfrm>
            <a:off x="6217920" y="3657600"/>
            <a:ext cx="2377440" cy="365760"/>
          </a:xfrm>
          <a:prstGeom prst="rect">
            <a:avLst/>
          </a:prstGeom>
          <a:noFill/>
          <a:ln/>
        </p:spPr>
        <p:txBody>
          <a:bodyPr wrap="square" lIns="0" tIns="0" rIns="0" bIns="0" rtlCol="0" anchor="ctr"/>
          <a:lstStyle/>
          <a:p>
            <a:pPr algn="ctr" indent="0" marL="0">
              <a:buNone/>
            </a:pPr>
            <a:r>
              <a:rPr lang="en-US" sz="1400" dirty="0">
                <a:solidFill>
                  <a:schemeClr val="tx1"/>
                </a:solidFill>
              </a:rPr>
              <a:t>Buzzer</a:t>
            </a:r>
            <a:endParaRPr lang="en-US" sz="1400" dirty="0"/>
          </a:p>
        </p:txBody>
      </p:sp>
      <p:sp>
        <p:nvSpPr>
          <p:cNvPr id="35" name="Card 38"/>
          <p:cNvSpPr/>
          <p:nvPr/>
        </p:nvSpPr>
        <p:spPr>
          <a:xfrm>
            <a:off x="6217920" y="4114800"/>
            <a:ext cx="2377440" cy="365760"/>
          </a:xfrm>
          <a:prstGeom prst="roundRect">
            <a:avLst>
              <a:gd name="adj" fmla="val 24000"/>
            </a:avLst>
          </a:prstGeom>
          <a:solidFill>
            <a:schemeClr val="bg2"/>
          </a:solidFill>
          <a:ln w="12700">
            <a:solidFill>
              <a:schemeClr val="bg2"/>
            </a:solidFill>
            <a:prstDash val="solid"/>
          </a:ln>
        </p:spPr>
      </p:sp>
      <p:sp>
        <p:nvSpPr>
          <p:cNvPr id="36" name="Text 33"/>
          <p:cNvSpPr txBox="1"/>
          <p:nvPr/>
        </p:nvSpPr>
        <p:spPr>
          <a:xfrm>
            <a:off x="6217920" y="4114800"/>
            <a:ext cx="2377440" cy="365760"/>
          </a:xfrm>
          <a:prstGeom prst="rect">
            <a:avLst/>
          </a:prstGeom>
          <a:noFill/>
          <a:ln/>
        </p:spPr>
        <p:txBody>
          <a:bodyPr wrap="square" lIns="0" tIns="0" rIns="0" bIns="0" rtlCol="0" anchor="ctr"/>
          <a:lstStyle/>
          <a:p>
            <a:pPr algn="ctr" indent="0" marL="0">
              <a:buNone/>
            </a:pPr>
            <a:r>
              <a:rPr lang="en-US" sz="1400" dirty="0">
                <a:solidFill>
                  <a:schemeClr val="tx1"/>
                </a:solidFill>
              </a:rPr>
              <a:t>Relay lamp or siren</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riterion tag 39"/>
          <p:cNvSpPr txBox="1"/>
          <p:nvPr/>
        </p:nvSpPr>
        <p:spPr>
          <a:xfrm>
            <a:off x="548640" y="310896"/>
            <a:ext cx="4414723"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3 OF 5  |  WORKING &amp; SYSTEM DESIGN</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How It Works</a:t>
            </a:r>
            <a:endParaRPr lang="en-US" sz="3400" dirty="0"/>
          </a:p>
        </p:txBody>
      </p:sp>
      <p:sp>
        <p:nvSpPr>
          <p:cNvPr id="4" name="State IDLE"/>
          <p:cNvSpPr txBox="1"/>
          <p:nvPr/>
        </p:nvSpPr>
        <p:spPr>
          <a:xfrm>
            <a:off x="548640" y="1828800"/>
            <a:ext cx="2377440" cy="457200"/>
          </a:xfrm>
          <a:prstGeom prst="roundRect">
            <a:avLst>
              <a:gd name="adj" fmla="val 50000"/>
            </a:avLst>
          </a:prstGeom>
          <a:solidFill>
            <a:schemeClr val="tx2"/>
          </a:solidFill>
          <a:ln/>
        </p:spPr>
        <p:txBody>
          <a:bodyPr wrap="square" lIns="0" tIns="0" rIns="0" bIns="0" rtlCol="0" anchor="ctr"/>
          <a:lstStyle/>
          <a:p>
            <a:pPr algn="ctr" indent="0" marL="0">
              <a:buNone/>
            </a:pPr>
            <a:r>
              <a:rPr lang="en-US" sz="1600" b="1" spc="100" kern="0" dirty="0">
                <a:solidFill>
                  <a:schemeClr val="bg1"/>
                </a:solidFill>
              </a:rPr>
              <a:t>IDLE</a:t>
            </a:r>
            <a:endParaRPr lang="en-US" sz="1600" dirty="0"/>
          </a:p>
        </p:txBody>
      </p:sp>
      <p:sp>
        <p:nvSpPr>
          <p:cNvPr id="5" name="Card 40"/>
          <p:cNvSpPr/>
          <p:nvPr/>
        </p:nvSpPr>
        <p:spPr>
          <a:xfrm>
            <a:off x="548640" y="2423160"/>
            <a:ext cx="2377440" cy="1280160"/>
          </a:xfrm>
          <a:prstGeom prst="roundRect">
            <a:avLst>
              <a:gd name="adj" fmla="val 8571"/>
            </a:avLst>
          </a:prstGeom>
          <a:solidFill>
            <a:schemeClr val="bg2"/>
          </a:solidFill>
          <a:ln w="12700">
            <a:solidFill>
              <a:schemeClr val="bg2"/>
            </a:solidFill>
            <a:prstDash val="solid"/>
          </a:ln>
        </p:spPr>
      </p:sp>
      <p:sp>
        <p:nvSpPr>
          <p:cNvPr id="6" name="Text 4"/>
          <p:cNvSpPr txBox="1"/>
          <p:nvPr/>
        </p:nvSpPr>
        <p:spPr>
          <a:xfrm>
            <a:off x="685800" y="2514600"/>
            <a:ext cx="2103120" cy="1097280"/>
          </a:xfrm>
          <a:prstGeom prst="rect">
            <a:avLst/>
          </a:prstGeom>
          <a:noFill/>
          <a:ln/>
        </p:spPr>
        <p:txBody>
          <a:bodyPr wrap="square" lIns="0" tIns="0" rIns="0" bIns="0" rtlCol="0" anchor="t"/>
          <a:lstStyle/>
          <a:p>
            <a:pPr indent="0" marL="0">
              <a:buNone/>
            </a:pPr>
            <a:r>
              <a:rPr lang="en-US" sz="1400" dirty="0">
                <a:solidFill>
                  <a:schemeClr val="tx1"/>
                </a:solidFill>
              </a:rPr>
              <a:t>Green glow. Touch INFO to see next dose, temp, humidity</a:t>
            </a:r>
            <a:endParaRPr lang="en-US" sz="1400" dirty="0"/>
          </a:p>
        </p:txBody>
      </p:sp>
      <p:sp>
        <p:nvSpPr>
          <p:cNvPr id="7" name="State WAITING"/>
          <p:cNvSpPr txBox="1"/>
          <p:nvPr/>
        </p:nvSpPr>
        <p:spPr>
          <a:xfrm>
            <a:off x="3383280" y="1828800"/>
            <a:ext cx="2377440" cy="457200"/>
          </a:xfrm>
          <a:prstGeom prst="roundRect">
            <a:avLst>
              <a:gd name="adj" fmla="val 50000"/>
            </a:avLst>
          </a:prstGeom>
          <a:solidFill>
            <a:schemeClr val="accent3"/>
          </a:solidFill>
          <a:ln/>
        </p:spPr>
        <p:txBody>
          <a:bodyPr wrap="square" lIns="0" tIns="0" rIns="0" bIns="0" rtlCol="0" anchor="ctr"/>
          <a:lstStyle/>
          <a:p>
            <a:pPr algn="ctr" indent="0" marL="0">
              <a:buNone/>
            </a:pPr>
            <a:r>
              <a:rPr lang="en-US" sz="1600" b="1" spc="100" kern="0" dirty="0">
                <a:solidFill>
                  <a:schemeClr val="tx1"/>
                </a:solidFill>
              </a:rPr>
              <a:t>WAITING</a:t>
            </a:r>
            <a:endParaRPr lang="en-US" sz="1600" dirty="0"/>
          </a:p>
        </p:txBody>
      </p:sp>
      <p:sp>
        <p:nvSpPr>
          <p:cNvPr id="8" name="Card 41"/>
          <p:cNvSpPr/>
          <p:nvPr/>
        </p:nvSpPr>
        <p:spPr>
          <a:xfrm>
            <a:off x="3383280" y="2423160"/>
            <a:ext cx="2377440" cy="1280160"/>
          </a:xfrm>
          <a:prstGeom prst="roundRect">
            <a:avLst>
              <a:gd name="adj" fmla="val 8571"/>
            </a:avLst>
          </a:prstGeom>
          <a:solidFill>
            <a:schemeClr val="bg2"/>
          </a:solidFill>
          <a:ln w="12700">
            <a:solidFill>
              <a:schemeClr val="bg2"/>
            </a:solidFill>
            <a:prstDash val="solid"/>
          </a:ln>
        </p:spPr>
      </p:sp>
      <p:sp>
        <p:nvSpPr>
          <p:cNvPr id="9" name="Text 7"/>
          <p:cNvSpPr txBox="1"/>
          <p:nvPr/>
        </p:nvSpPr>
        <p:spPr>
          <a:xfrm>
            <a:off x="3520440" y="2514600"/>
            <a:ext cx="2103120" cy="1097280"/>
          </a:xfrm>
          <a:prstGeom prst="rect">
            <a:avLst/>
          </a:prstGeom>
          <a:noFill/>
          <a:ln/>
        </p:spPr>
        <p:txBody>
          <a:bodyPr wrap="square" lIns="0" tIns="0" rIns="0" bIns="0" rtlCol="0" anchor="t"/>
          <a:lstStyle/>
          <a:p>
            <a:pPr indent="0" marL="0">
              <a:buNone/>
            </a:pPr>
            <a:r>
              <a:rPr lang="en-US" sz="1400" dirty="0">
                <a:solidFill>
                  <a:schemeClr val="tx1"/>
                </a:solidFill>
              </a:rPr>
              <a:t>Disc aligns slot, LCD says TAKE MEDICINE, blue light blinks, beeps</a:t>
            </a:r>
            <a:endParaRPr lang="en-US" sz="1400" dirty="0"/>
          </a:p>
        </p:txBody>
      </p:sp>
      <p:sp>
        <p:nvSpPr>
          <p:cNvPr id="10" name="State ALERT"/>
          <p:cNvSpPr txBox="1"/>
          <p:nvPr/>
        </p:nvSpPr>
        <p:spPr>
          <a:xfrm>
            <a:off x="6217920" y="1828800"/>
            <a:ext cx="237744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spc="100" kern="0" dirty="0">
                <a:solidFill>
                  <a:schemeClr val="bg1"/>
                </a:solidFill>
              </a:rPr>
              <a:t>ALERT</a:t>
            </a:r>
            <a:endParaRPr lang="en-US" sz="1600" dirty="0"/>
          </a:p>
        </p:txBody>
      </p:sp>
      <p:sp>
        <p:nvSpPr>
          <p:cNvPr id="11" name="Card 42"/>
          <p:cNvSpPr/>
          <p:nvPr/>
        </p:nvSpPr>
        <p:spPr>
          <a:xfrm>
            <a:off x="6217920" y="2423160"/>
            <a:ext cx="2377440" cy="1280160"/>
          </a:xfrm>
          <a:prstGeom prst="roundRect">
            <a:avLst>
              <a:gd name="adj" fmla="val 8571"/>
            </a:avLst>
          </a:prstGeom>
          <a:solidFill>
            <a:schemeClr val="bg2"/>
          </a:solidFill>
          <a:ln w="12700">
            <a:solidFill>
              <a:schemeClr val="bg2"/>
            </a:solidFill>
            <a:prstDash val="solid"/>
          </a:ln>
        </p:spPr>
      </p:sp>
      <p:sp>
        <p:nvSpPr>
          <p:cNvPr id="12" name="Text 10"/>
          <p:cNvSpPr txBox="1"/>
          <p:nvPr/>
        </p:nvSpPr>
        <p:spPr>
          <a:xfrm>
            <a:off x="6355080" y="2514600"/>
            <a:ext cx="2103120" cy="1097280"/>
          </a:xfrm>
          <a:prstGeom prst="rect">
            <a:avLst/>
          </a:prstGeom>
          <a:noFill/>
          <a:ln/>
        </p:spPr>
        <p:txBody>
          <a:bodyPr wrap="square" lIns="0" tIns="0" rIns="0" bIns="0" rtlCol="0" anchor="t"/>
          <a:lstStyle/>
          <a:p>
            <a:pPr indent="0" marL="0">
              <a:buNone/>
            </a:pPr>
            <a:r>
              <a:rPr lang="en-US" sz="1400" dirty="0">
                <a:solidFill>
                  <a:schemeClr val="tx1"/>
                </a:solidFill>
              </a:rPr>
              <a:t>Red flashing light and buzzer, relay lamp or siren, LCD shows FAMILY ALERT</a:t>
            </a:r>
            <a:endParaRPr lang="en-US" sz="1400" dirty="0"/>
          </a:p>
        </p:txBody>
      </p:sp>
      <p:sp>
        <p:nvSpPr>
          <p:cNvPr id="13" name="Arrow 43"/>
          <p:cNvSpPr/>
          <p:nvPr/>
        </p:nvSpPr>
        <p:spPr>
          <a:xfrm>
            <a:off x="2971800" y="2057400"/>
            <a:ext cx="365760" cy="0"/>
          </a:xfrm>
          <a:prstGeom prst="line">
            <a:avLst/>
          </a:prstGeom>
          <a:noFill/>
          <a:ln w="28575">
            <a:solidFill>
              <a:schemeClr val="accent1"/>
            </a:solidFill>
            <a:prstDash val="solid"/>
            <a:tailEnd type="triangle"/>
          </a:ln>
        </p:spPr>
      </p:sp>
      <p:sp>
        <p:nvSpPr>
          <p:cNvPr id="14" name="Arrow 44"/>
          <p:cNvSpPr/>
          <p:nvPr/>
        </p:nvSpPr>
        <p:spPr>
          <a:xfrm>
            <a:off x="5806440" y="2057400"/>
            <a:ext cx="365760" cy="0"/>
          </a:xfrm>
          <a:prstGeom prst="line">
            <a:avLst/>
          </a:prstGeom>
          <a:noFill/>
          <a:ln w="28575">
            <a:solidFill>
              <a:schemeClr val="accent1"/>
            </a:solidFill>
            <a:prstDash val="solid"/>
            <a:tailEnd type="triangle"/>
          </a:ln>
        </p:spPr>
      </p:sp>
      <p:sp>
        <p:nvSpPr>
          <p:cNvPr id="15" name="Text 13"/>
          <p:cNvSpPr txBox="1"/>
          <p:nvPr/>
        </p:nvSpPr>
        <p:spPr>
          <a:xfrm>
            <a:off x="2377440" y="1463040"/>
            <a:ext cx="1554480" cy="365760"/>
          </a:xfrm>
          <a:prstGeom prst="rect">
            <a:avLst/>
          </a:prstGeom>
          <a:noFill/>
          <a:ln/>
        </p:spPr>
        <p:txBody>
          <a:bodyPr wrap="square" lIns="0" tIns="0" rIns="0" bIns="0" rtlCol="0" anchor="b"/>
          <a:lstStyle/>
          <a:p>
            <a:pPr algn="ctr" indent="0" marL="0">
              <a:buNone/>
            </a:pPr>
            <a:r>
              <a:rPr lang="en-US" sz="1200" dirty="0">
                <a:solidFill>
                  <a:schemeClr val="accent6"/>
                </a:solidFill>
              </a:rPr>
              <a:t>dose time reached</a:t>
            </a:r>
            <a:endParaRPr lang="en-US" sz="1200" dirty="0"/>
          </a:p>
        </p:txBody>
      </p:sp>
      <p:sp>
        <p:nvSpPr>
          <p:cNvPr id="16" name="Text 14"/>
          <p:cNvSpPr txBox="1"/>
          <p:nvPr/>
        </p:nvSpPr>
        <p:spPr>
          <a:xfrm>
            <a:off x="5212080" y="1463040"/>
            <a:ext cx="1554480" cy="365760"/>
          </a:xfrm>
          <a:prstGeom prst="rect">
            <a:avLst/>
          </a:prstGeom>
          <a:noFill/>
          <a:ln/>
        </p:spPr>
        <p:txBody>
          <a:bodyPr wrap="square" lIns="0" tIns="0" rIns="0" bIns="0" rtlCol="0" anchor="b"/>
          <a:lstStyle/>
          <a:p>
            <a:pPr algn="ctr" indent="0" marL="0">
              <a:buNone/>
            </a:pPr>
            <a:r>
              <a:rPr lang="en-US" sz="1200" dirty="0">
                <a:solidFill>
                  <a:schemeClr val="accent6"/>
                </a:solidFill>
              </a:rPr>
              <a:t>no pickup in 10 min</a:t>
            </a:r>
            <a:endParaRPr lang="en-US" sz="1200" dirty="0"/>
          </a:p>
        </p:txBody>
      </p:sp>
      <p:sp>
        <p:nvSpPr>
          <p:cNvPr id="17" name="Card 45"/>
          <p:cNvSpPr/>
          <p:nvPr/>
        </p:nvSpPr>
        <p:spPr>
          <a:xfrm>
            <a:off x="548640" y="3886200"/>
            <a:ext cx="3931920" cy="777240"/>
          </a:xfrm>
          <a:prstGeom prst="roundRect">
            <a:avLst>
              <a:gd name="adj" fmla="val 14118"/>
            </a:avLst>
          </a:prstGeom>
          <a:solidFill>
            <a:schemeClr val="bg2"/>
          </a:solidFill>
          <a:ln w="12700">
            <a:solidFill>
              <a:schemeClr val="bg2"/>
            </a:solidFill>
            <a:prstDash val="solid"/>
          </a:ln>
        </p:spPr>
      </p:sp>
      <p:sp>
        <p:nvSpPr>
          <p:cNvPr id="18" name="Icon circle 46"/>
          <p:cNvSpPr/>
          <p:nvPr/>
        </p:nvSpPr>
        <p:spPr>
          <a:xfrm>
            <a:off x="685800" y="3995928"/>
            <a:ext cx="548640" cy="548640"/>
          </a:xfrm>
          <a:prstGeom prst="ellipse">
            <a:avLst/>
          </a:prstGeom>
          <a:solidFill>
            <a:schemeClr val="accent1"/>
          </a:solidFill>
          <a:ln w="12700">
            <a:solidFill>
              <a:schemeClr val="accent1"/>
            </a:solidFill>
            <a:prstDash val="solid"/>
          </a:ln>
        </p:spPr>
      </p:sp>
      <p:pic>
        <p:nvPicPr>
          <p:cNvPr id="19" name="Image 0" descr="icon">    </p:cNvPr>
          <p:cNvPicPr>
            <a:picLocks noChangeAspect="1"/>
          </p:cNvPicPr>
          <p:nvPr/>
        </p:nvPicPr>
        <p:blipFill>
          <a:blip r:embed="rId1"/>
          <a:stretch>
            <a:fillRect/>
          </a:stretch>
        </p:blipFill>
        <p:spPr>
          <a:xfrm>
            <a:off x="828446" y="4138574"/>
            <a:ext cx="263347" cy="263347"/>
          </a:xfrm>
          <a:prstGeom prst="rect">
            <a:avLst/>
          </a:prstGeom>
        </p:spPr>
      </p:pic>
      <p:sp>
        <p:nvSpPr>
          <p:cNvPr id="20" name="Text 17"/>
          <p:cNvSpPr txBox="1"/>
          <p:nvPr/>
        </p:nvSpPr>
        <p:spPr>
          <a:xfrm>
            <a:off x="1371600" y="3931920"/>
            <a:ext cx="3017520" cy="685800"/>
          </a:xfrm>
          <a:prstGeom prst="rect">
            <a:avLst/>
          </a:prstGeom>
          <a:noFill/>
          <a:ln/>
        </p:spPr>
        <p:txBody>
          <a:bodyPr wrap="square" lIns="0" tIns="0" rIns="0" bIns="0" rtlCol="0" anchor="ctr"/>
          <a:lstStyle/>
          <a:p>
            <a:pPr indent="0" marL="0">
              <a:buNone/>
            </a:pPr>
            <a:r>
              <a:rPr lang="en-US" sz="1400" dirty="0">
                <a:solidFill>
                  <a:schemeClr val="tx1"/>
                </a:solidFill>
              </a:rPr>
              <a:t>Pill picked up: green light, “Well done!”, disc parks</a:t>
            </a:r>
            <a:endParaRPr lang="en-US" sz="1400" dirty="0"/>
          </a:p>
        </p:txBody>
      </p:sp>
      <p:sp>
        <p:nvSpPr>
          <p:cNvPr id="21" name="Card 47"/>
          <p:cNvSpPr/>
          <p:nvPr/>
        </p:nvSpPr>
        <p:spPr>
          <a:xfrm>
            <a:off x="4663440" y="3886200"/>
            <a:ext cx="3931920" cy="777240"/>
          </a:xfrm>
          <a:prstGeom prst="roundRect">
            <a:avLst>
              <a:gd name="adj" fmla="val 14118"/>
            </a:avLst>
          </a:prstGeom>
          <a:solidFill>
            <a:schemeClr val="bg2"/>
          </a:solidFill>
          <a:ln w="12700">
            <a:solidFill>
              <a:schemeClr val="bg2"/>
            </a:solidFill>
            <a:prstDash val="solid"/>
          </a:ln>
        </p:spPr>
      </p:sp>
      <p:sp>
        <p:nvSpPr>
          <p:cNvPr id="22" name="Icon circle 48"/>
          <p:cNvSpPr/>
          <p:nvPr/>
        </p:nvSpPr>
        <p:spPr>
          <a:xfrm>
            <a:off x="4800600" y="3995928"/>
            <a:ext cx="548640" cy="548640"/>
          </a:xfrm>
          <a:prstGeom prst="ellipse">
            <a:avLst/>
          </a:prstGeom>
          <a:solidFill>
            <a:schemeClr val="accent2"/>
          </a:solidFill>
          <a:ln w="12700">
            <a:solidFill>
              <a:schemeClr val="accent2"/>
            </a:solidFill>
            <a:prstDash val="solid"/>
          </a:ln>
        </p:spPr>
      </p:sp>
      <p:pic>
        <p:nvPicPr>
          <p:cNvPr id="23" name="Image 1" descr="icon">    </p:cNvPr>
          <p:cNvPicPr>
            <a:picLocks noChangeAspect="1"/>
          </p:cNvPicPr>
          <p:nvPr/>
        </p:nvPicPr>
        <p:blipFill>
          <a:blip r:embed="rId2"/>
          <a:stretch>
            <a:fillRect/>
          </a:stretch>
        </p:blipFill>
        <p:spPr>
          <a:xfrm>
            <a:off x="4943246" y="4138574"/>
            <a:ext cx="263347" cy="263347"/>
          </a:xfrm>
          <a:prstGeom prst="rect">
            <a:avLst/>
          </a:prstGeom>
        </p:spPr>
      </p:pic>
      <p:sp>
        <p:nvSpPr>
          <p:cNvPr id="24" name="Text 20"/>
          <p:cNvSpPr txBox="1"/>
          <p:nvPr/>
        </p:nvSpPr>
        <p:spPr>
          <a:xfrm>
            <a:off x="5486400" y="3931920"/>
            <a:ext cx="3017520" cy="685800"/>
          </a:xfrm>
          <a:prstGeom prst="rect">
            <a:avLst/>
          </a:prstGeom>
          <a:noFill/>
          <a:ln/>
        </p:spPr>
        <p:txBody>
          <a:bodyPr wrap="square" lIns="0" tIns="0" rIns="0" bIns="0" rtlCol="0" anchor="ctr"/>
          <a:lstStyle/>
          <a:p>
            <a:pPr indent="0" marL="0">
              <a:buNone/>
            </a:pPr>
            <a:r>
              <a:rPr lang="en-US" sz="1400" dirty="0">
                <a:solidFill>
                  <a:schemeClr val="tx1"/>
                </a:solidFill>
              </a:rPr>
              <a:t>Late pickup, or the caregiver touching ACK and entering the PIN, clears the alert</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riterion tag 49"/>
          <p:cNvSpPr txBox="1"/>
          <p:nvPr/>
        </p:nvSpPr>
        <p:spPr>
          <a:xfrm>
            <a:off x="548640" y="310896"/>
            <a:ext cx="4414723"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3 OF 5  |  WORKING &amp; SYSTEM DESIGN</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Status Light Colours</a:t>
            </a:r>
            <a:endParaRPr lang="en-US" sz="3400" dirty="0"/>
          </a:p>
        </p:txBody>
      </p:sp>
      <p:sp>
        <p:nvSpPr>
          <p:cNvPr id="4" name="Card 50"/>
          <p:cNvSpPr/>
          <p:nvPr/>
        </p:nvSpPr>
        <p:spPr>
          <a:xfrm>
            <a:off x="548640" y="1463040"/>
            <a:ext cx="2560320" cy="2743200"/>
          </a:xfrm>
          <a:prstGeom prst="roundRect">
            <a:avLst>
              <a:gd name="adj" fmla="val 4286"/>
            </a:avLst>
          </a:prstGeom>
          <a:solidFill>
            <a:schemeClr val="bg2"/>
          </a:solidFill>
          <a:ln w="12700">
            <a:solidFill>
              <a:schemeClr val="bg2"/>
            </a:solidFill>
            <a:prstDash val="solid"/>
          </a:ln>
        </p:spPr>
      </p:sp>
      <p:sp>
        <p:nvSpPr>
          <p:cNvPr id="5" name="Colour swatch Green"/>
          <p:cNvSpPr/>
          <p:nvPr/>
        </p:nvSpPr>
        <p:spPr>
          <a:xfrm>
            <a:off x="777240" y="1691640"/>
            <a:ext cx="731520" cy="731520"/>
          </a:xfrm>
          <a:prstGeom prst="ellipse">
            <a:avLst/>
          </a:prstGeom>
          <a:solidFill>
            <a:srgbClr val="22A559"/>
          </a:solidFill>
          <a:ln w="12700">
            <a:solidFill>
              <a:srgbClr val="22A559"/>
            </a:solidFill>
            <a:prstDash val="solid"/>
          </a:ln>
        </p:spPr>
      </p:sp>
      <p:sp>
        <p:nvSpPr>
          <p:cNvPr id="6" name="Text 4"/>
          <p:cNvSpPr txBox="1"/>
          <p:nvPr/>
        </p:nvSpPr>
        <p:spPr>
          <a:xfrm>
            <a:off x="1645920" y="1737360"/>
            <a:ext cx="1280160" cy="365760"/>
          </a:xfrm>
          <a:prstGeom prst="rect">
            <a:avLst/>
          </a:prstGeom>
          <a:noFill/>
          <a:ln/>
        </p:spPr>
        <p:txBody>
          <a:bodyPr wrap="square" lIns="0" tIns="0" rIns="0" bIns="0" rtlCol="0" anchor="t"/>
          <a:lstStyle/>
          <a:p>
            <a:pPr indent="0" marL="0">
              <a:buNone/>
            </a:pPr>
            <a:r>
              <a:rPr lang="en-US" sz="2200" b="1" dirty="0">
                <a:solidFill>
                  <a:schemeClr val="tx2"/>
                </a:solidFill>
              </a:rPr>
              <a:t>Green</a:t>
            </a:r>
            <a:endParaRPr lang="en-US" sz="2200" dirty="0"/>
          </a:p>
        </p:txBody>
      </p:sp>
      <p:sp>
        <p:nvSpPr>
          <p:cNvPr id="7" name="Text 5"/>
          <p:cNvSpPr txBox="1"/>
          <p:nvPr/>
        </p:nvSpPr>
        <p:spPr>
          <a:xfrm>
            <a:off x="1645920" y="2103120"/>
            <a:ext cx="1371600" cy="274320"/>
          </a:xfrm>
          <a:prstGeom prst="rect">
            <a:avLst/>
          </a:prstGeom>
          <a:noFill/>
          <a:ln/>
        </p:spPr>
        <p:txBody>
          <a:bodyPr wrap="square" lIns="0" tIns="0" rIns="0" bIns="0" rtlCol="0" anchor="t"/>
          <a:lstStyle/>
          <a:p>
            <a:pPr indent="0" marL="0">
              <a:buNone/>
            </a:pPr>
            <a:r>
              <a:rPr lang="en-US" sz="1400" dirty="0">
                <a:solidFill>
                  <a:schemeClr val="accent6"/>
                </a:solidFill>
              </a:rPr>
              <a:t>All good</a:t>
            </a:r>
            <a:endParaRPr lang="en-US" sz="1400" dirty="0"/>
          </a:p>
        </p:txBody>
      </p:sp>
      <p:sp>
        <p:nvSpPr>
          <p:cNvPr id="8" name="Text 6"/>
          <p:cNvSpPr txBox="1"/>
          <p:nvPr/>
        </p:nvSpPr>
        <p:spPr>
          <a:xfrm>
            <a:off x="777240" y="2743200"/>
            <a:ext cx="21488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Standby: gentle pulse</a:t>
            </a:r>
            <a:endParaRPr lang="en-US" sz="1400" dirty="0"/>
          </a:p>
          <a:p>
            <a:pPr marL="342900" indent="-342900">
              <a:spcAft>
                <a:spcPts val="800"/>
              </a:spcAft>
              <a:buSzPct val="100000"/>
              <a:buChar char="•"/>
            </a:pPr>
            <a:r>
              <a:rPr lang="en-US" sz="1400" dirty="0">
                <a:solidFill>
                  <a:schemeClr val="tx1"/>
                </a:solidFill>
              </a:rPr>
              <a:t>Dose taken: solid green</a:t>
            </a:r>
            <a:endParaRPr lang="en-US" sz="1400" dirty="0"/>
          </a:p>
        </p:txBody>
      </p:sp>
      <p:sp>
        <p:nvSpPr>
          <p:cNvPr id="9" name="Card 51"/>
          <p:cNvSpPr/>
          <p:nvPr/>
        </p:nvSpPr>
        <p:spPr>
          <a:xfrm>
            <a:off x="3291840" y="1463040"/>
            <a:ext cx="2560320" cy="2743200"/>
          </a:xfrm>
          <a:prstGeom prst="roundRect">
            <a:avLst>
              <a:gd name="adj" fmla="val 4286"/>
            </a:avLst>
          </a:prstGeom>
          <a:solidFill>
            <a:schemeClr val="bg2"/>
          </a:solidFill>
          <a:ln w="12700">
            <a:solidFill>
              <a:schemeClr val="bg2"/>
            </a:solidFill>
            <a:prstDash val="solid"/>
          </a:ln>
        </p:spPr>
      </p:sp>
      <p:sp>
        <p:nvSpPr>
          <p:cNvPr id="10" name="Colour swatch Blue"/>
          <p:cNvSpPr/>
          <p:nvPr/>
        </p:nvSpPr>
        <p:spPr>
          <a:xfrm>
            <a:off x="3520440" y="1691640"/>
            <a:ext cx="731520" cy="731520"/>
          </a:xfrm>
          <a:prstGeom prst="ellipse">
            <a:avLst/>
          </a:prstGeom>
          <a:solidFill>
            <a:srgbClr val="2F6FE0"/>
          </a:solidFill>
          <a:ln w="12700">
            <a:solidFill>
              <a:srgbClr val="2F6FE0"/>
            </a:solidFill>
            <a:prstDash val="solid"/>
          </a:ln>
        </p:spPr>
      </p:sp>
      <p:sp>
        <p:nvSpPr>
          <p:cNvPr id="11" name="Text 9"/>
          <p:cNvSpPr txBox="1"/>
          <p:nvPr/>
        </p:nvSpPr>
        <p:spPr>
          <a:xfrm>
            <a:off x="4389120" y="1737360"/>
            <a:ext cx="1280160" cy="365760"/>
          </a:xfrm>
          <a:prstGeom prst="rect">
            <a:avLst/>
          </a:prstGeom>
          <a:noFill/>
          <a:ln/>
        </p:spPr>
        <p:txBody>
          <a:bodyPr wrap="square" lIns="0" tIns="0" rIns="0" bIns="0" rtlCol="0" anchor="t"/>
          <a:lstStyle/>
          <a:p>
            <a:pPr indent="0" marL="0">
              <a:buNone/>
            </a:pPr>
            <a:r>
              <a:rPr lang="en-US" sz="2200" b="1" dirty="0">
                <a:solidFill>
                  <a:schemeClr val="tx2"/>
                </a:solidFill>
              </a:rPr>
              <a:t>Blue</a:t>
            </a:r>
            <a:endParaRPr lang="en-US" sz="2200" dirty="0"/>
          </a:p>
        </p:txBody>
      </p:sp>
      <p:sp>
        <p:nvSpPr>
          <p:cNvPr id="12" name="Text 10"/>
          <p:cNvSpPr txBox="1"/>
          <p:nvPr/>
        </p:nvSpPr>
        <p:spPr>
          <a:xfrm>
            <a:off x="4389120" y="2103120"/>
            <a:ext cx="1371600" cy="274320"/>
          </a:xfrm>
          <a:prstGeom prst="rect">
            <a:avLst/>
          </a:prstGeom>
          <a:noFill/>
          <a:ln/>
        </p:spPr>
        <p:txBody>
          <a:bodyPr wrap="square" lIns="0" tIns="0" rIns="0" bIns="0" rtlCol="0" anchor="t"/>
          <a:lstStyle/>
          <a:p>
            <a:pPr indent="0" marL="0">
              <a:buNone/>
            </a:pPr>
            <a:r>
              <a:rPr lang="en-US" sz="1400" dirty="0">
                <a:solidFill>
                  <a:schemeClr val="accent6"/>
                </a:solidFill>
              </a:rPr>
              <a:t>Action needed</a:t>
            </a:r>
            <a:endParaRPr lang="en-US" sz="1400" dirty="0"/>
          </a:p>
        </p:txBody>
      </p:sp>
      <p:sp>
        <p:nvSpPr>
          <p:cNvPr id="13" name="Text 11"/>
          <p:cNvSpPr txBox="1"/>
          <p:nvPr/>
        </p:nvSpPr>
        <p:spPr>
          <a:xfrm>
            <a:off x="3520440" y="2743200"/>
            <a:ext cx="21488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Time to take the dose: blinks</a:t>
            </a:r>
            <a:endParaRPr lang="en-US" sz="1400" dirty="0"/>
          </a:p>
          <a:p>
            <a:pPr marL="342900" indent="-342900">
              <a:spcAft>
                <a:spcPts val="800"/>
              </a:spcAft>
              <a:buSzPct val="100000"/>
              <a:buChar char="•"/>
            </a:pPr>
            <a:r>
              <a:rPr lang="en-US" sz="1400" dirty="0">
                <a:solidFill>
                  <a:schemeClr val="tx1"/>
                </a:solidFill>
              </a:rPr>
              <a:t>PIN, settings, illness menu: solid</a:t>
            </a:r>
            <a:endParaRPr lang="en-US" sz="1400" dirty="0"/>
          </a:p>
        </p:txBody>
      </p:sp>
      <p:sp>
        <p:nvSpPr>
          <p:cNvPr id="14" name="Card 52"/>
          <p:cNvSpPr/>
          <p:nvPr/>
        </p:nvSpPr>
        <p:spPr>
          <a:xfrm>
            <a:off x="6035040" y="1463040"/>
            <a:ext cx="2560320" cy="2743200"/>
          </a:xfrm>
          <a:prstGeom prst="roundRect">
            <a:avLst>
              <a:gd name="adj" fmla="val 4286"/>
            </a:avLst>
          </a:prstGeom>
          <a:solidFill>
            <a:schemeClr val="bg2"/>
          </a:solidFill>
          <a:ln w="12700">
            <a:solidFill>
              <a:schemeClr val="bg2"/>
            </a:solidFill>
            <a:prstDash val="solid"/>
          </a:ln>
        </p:spPr>
      </p:sp>
      <p:sp>
        <p:nvSpPr>
          <p:cNvPr id="15" name="Colour swatch Red"/>
          <p:cNvSpPr/>
          <p:nvPr/>
        </p:nvSpPr>
        <p:spPr>
          <a:xfrm>
            <a:off x="6263640" y="1691640"/>
            <a:ext cx="731520" cy="731520"/>
          </a:xfrm>
          <a:prstGeom prst="ellipse">
            <a:avLst/>
          </a:prstGeom>
          <a:solidFill>
            <a:srgbClr val="D9422B"/>
          </a:solidFill>
          <a:ln w="12700">
            <a:solidFill>
              <a:srgbClr val="D9422B"/>
            </a:solidFill>
            <a:prstDash val="solid"/>
          </a:ln>
        </p:spPr>
      </p:sp>
      <p:sp>
        <p:nvSpPr>
          <p:cNvPr id="16" name="Text 14"/>
          <p:cNvSpPr txBox="1"/>
          <p:nvPr/>
        </p:nvSpPr>
        <p:spPr>
          <a:xfrm>
            <a:off x="7132320" y="1737360"/>
            <a:ext cx="1280160" cy="365760"/>
          </a:xfrm>
          <a:prstGeom prst="rect">
            <a:avLst/>
          </a:prstGeom>
          <a:noFill/>
          <a:ln/>
        </p:spPr>
        <p:txBody>
          <a:bodyPr wrap="square" lIns="0" tIns="0" rIns="0" bIns="0" rtlCol="0" anchor="t"/>
          <a:lstStyle/>
          <a:p>
            <a:pPr indent="0" marL="0">
              <a:buNone/>
            </a:pPr>
            <a:r>
              <a:rPr lang="en-US" sz="2200" b="1" dirty="0">
                <a:solidFill>
                  <a:schemeClr val="tx2"/>
                </a:solidFill>
              </a:rPr>
              <a:t>Red</a:t>
            </a:r>
            <a:endParaRPr lang="en-US" sz="2200" dirty="0"/>
          </a:p>
        </p:txBody>
      </p:sp>
      <p:sp>
        <p:nvSpPr>
          <p:cNvPr id="17" name="Text 15"/>
          <p:cNvSpPr txBox="1"/>
          <p:nvPr/>
        </p:nvSpPr>
        <p:spPr>
          <a:xfrm>
            <a:off x="7132320" y="2103120"/>
            <a:ext cx="1371600" cy="274320"/>
          </a:xfrm>
          <a:prstGeom prst="rect">
            <a:avLst/>
          </a:prstGeom>
          <a:noFill/>
          <a:ln/>
        </p:spPr>
        <p:txBody>
          <a:bodyPr wrap="square" lIns="0" tIns="0" rIns="0" bIns="0" rtlCol="0" anchor="t"/>
          <a:lstStyle/>
          <a:p>
            <a:pPr indent="0" marL="0">
              <a:buNone/>
            </a:pPr>
            <a:r>
              <a:rPr lang="en-US" sz="1400" dirty="0">
                <a:solidFill>
                  <a:schemeClr val="accent6"/>
                </a:solidFill>
              </a:rPr>
              <a:t>Problem</a:t>
            </a:r>
            <a:endParaRPr lang="en-US" sz="1400" dirty="0"/>
          </a:p>
        </p:txBody>
      </p:sp>
      <p:sp>
        <p:nvSpPr>
          <p:cNvPr id="18" name="Text 16"/>
          <p:cNvSpPr txBox="1"/>
          <p:nvPr/>
        </p:nvSpPr>
        <p:spPr>
          <a:xfrm>
            <a:off x="6263640" y="2743200"/>
            <a:ext cx="21488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Missed dose: flashes with buzzer</a:t>
            </a:r>
            <a:endParaRPr lang="en-US" sz="1400" dirty="0"/>
          </a:p>
          <a:p>
            <a:pPr marL="342900" indent="-342900">
              <a:spcAft>
                <a:spcPts val="800"/>
              </a:spcAft>
              <a:buSzPct val="100000"/>
              <a:buChar char="•"/>
            </a:pPr>
            <a:r>
              <a:rPr lang="en-US" sz="1400" dirty="0">
                <a:solidFill>
                  <a:schemeClr val="tx1"/>
                </a:solidFill>
              </a:rPr>
              <a:t>Storage too hot or humid: solid</a:t>
            </a:r>
            <a:endParaRPr lang="en-US" sz="1400" dirty="0"/>
          </a:p>
        </p:txBody>
      </p:sp>
      <p:sp>
        <p:nvSpPr>
          <p:cNvPr id="19" name="Text 17"/>
          <p:cNvSpPr txBox="1"/>
          <p:nvPr/>
        </p:nvSpPr>
        <p:spPr>
          <a:xfrm>
            <a:off x="548640" y="4343400"/>
            <a:ext cx="8046720" cy="320040"/>
          </a:xfrm>
          <a:prstGeom prst="rect">
            <a:avLst/>
          </a:prstGeom>
          <a:noFill/>
          <a:ln/>
        </p:spPr>
        <p:txBody>
          <a:bodyPr wrap="square" lIns="0" tIns="0" rIns="0" bIns="0" rtlCol="0" anchor="t"/>
          <a:lstStyle/>
          <a:p>
            <a:pPr indent="0" marL="0">
              <a:buNone/>
            </a:pPr>
            <a:r>
              <a:rPr lang="en-US" sz="1400" i="1" dirty="0">
                <a:solidFill>
                  <a:schemeClr val="accent6"/>
                </a:solidFill>
              </a:rPr>
              <a:t>One 4-pin RGB LED, three colours, easy to read across the room.</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riterion tag 53"/>
          <p:cNvSpPr txBox="1"/>
          <p:nvPr/>
        </p:nvSpPr>
        <p:spPr>
          <a:xfrm>
            <a:off x="548640" y="310896"/>
            <a:ext cx="4264762"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4 OF 5  |  RELIABILITY &amp; TESTING</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Reliability &amp; Testing</a:t>
            </a:r>
            <a:endParaRPr lang="en-US" sz="3400" dirty="0"/>
          </a:p>
        </p:txBody>
      </p:sp>
      <p:graphicFrame>
        <p:nvGraphicFramePr>
          <p:cNvPr id="9" name="Test plan table"/>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1828800"/>
                <a:gridCol w="3840480"/>
                <a:gridCol w="2377440"/>
              </a:tblGrid>
              <a:tr h="365760">
                <a:tc>
                  <a:txBody>
                    <a:bodyPr/>
                    <a:lstStyle/>
                    <a:p>
                      <a:pPr indent="0" marL="0">
                        <a:buNone/>
                      </a:pPr>
                      <a:r>
                        <a:rPr lang="en-US" sz="1400" b="1" dirty="0">
                          <a:solidFill>
                            <a:srgbClr val="FFFFFF"/>
                          </a:solidFill>
                        </a:rPr>
                        <a:t>Test</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0B4F52"/>
                    </a:solidFill>
                  </a:tcPr>
                </a:tc>
                <a:tc>
                  <a:txBody>
                    <a:bodyPr/>
                    <a:lstStyle/>
                    <a:p>
                      <a:pPr indent="0" marL="0">
                        <a:buNone/>
                      </a:pPr>
                      <a:r>
                        <a:rPr lang="en-US" sz="1400" b="1" dirty="0">
                          <a:solidFill>
                            <a:srgbClr val="FFFFFF"/>
                          </a:solidFill>
                        </a:rPr>
                        <a:t>Method</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0B4F52"/>
                    </a:solidFill>
                  </a:tcPr>
                </a:tc>
                <a:tc>
                  <a:txBody>
                    <a:bodyPr/>
                    <a:lstStyle/>
                    <a:p>
                      <a:pPr indent="0" marL="0">
                        <a:buNone/>
                      </a:pPr>
                      <a:r>
                        <a:rPr lang="en-US" sz="1400" b="1" dirty="0">
                          <a:solidFill>
                            <a:srgbClr val="FFFFFF"/>
                          </a:solidFill>
                        </a:rPr>
                        <a:t>Pass criterion</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0B4F52"/>
                    </a:solidFill>
                  </a:tcPr>
                </a:tc>
              </a:tr>
              <a:tr h="330000">
                <a:tc>
                  <a:txBody>
                    <a:bodyPr/>
                    <a:lstStyle/>
                    <a:p>
                      <a:pPr indent="0" marL="0">
                        <a:buNone/>
                      </a:pPr>
                      <a:r>
                        <a:rPr lang="en-US" sz="1400" b="1" dirty="0">
                          <a:solidFill>
                            <a:srgbClr val="0B4F52"/>
                          </a:solidFill>
                        </a:rPr>
                        <a:t>Dispense accuracy</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50 cycles per slot; pill reaches tray</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Every cycle succeeds</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r>
              <a:tr h="330000">
                <a:tc>
                  <a:txBody>
                    <a:bodyPr/>
                    <a:lstStyle/>
                    <a:p>
                      <a:pPr indent="0" marL="0">
                        <a:buNone/>
                      </a:pPr>
                      <a:r>
                        <a:rPr lang="en-US" sz="1400" b="1" dirty="0">
                          <a:solidFill>
                            <a:srgbClr val="0B4F52"/>
                          </a:solidFill>
                        </a:rPr>
                        <a:t>Pickup detection</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Pills, fingertip, hand; bright, dim light</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Detected every trial</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r>
              <a:tr h="330000">
                <a:tc>
                  <a:txBody>
                    <a:bodyPr/>
                    <a:lstStyle/>
                    <a:p>
                      <a:pPr indent="0" marL="0">
                        <a:buNone/>
                      </a:pPr>
                      <a:r>
                        <a:rPr lang="en-US" sz="1400" b="1" dirty="0">
                          <a:solidFill>
                            <a:srgbClr val="0B4F52"/>
                          </a:solidFill>
                        </a:rPr>
                        <a:t>Timeout and alert</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Ignore a dose in demo and real time</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Alert fires on schedule</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r>
              <a:tr h="330000">
                <a:tc>
                  <a:txBody>
                    <a:bodyPr/>
                    <a:lstStyle/>
                    <a:p>
                      <a:pPr indent="0" marL="0">
                        <a:buNone/>
                      </a:pPr>
                      <a:r>
                        <a:rPr lang="en-US" sz="1400" b="1" dirty="0">
                          <a:solidFill>
                            <a:srgbClr val="0B4F52"/>
                          </a:solidFill>
                        </a:rPr>
                        <a:t>Power stability</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Servo moving with LCD, buzzer, relay on</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No resets or glitches</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r>
              <a:tr h="330000">
                <a:tc>
                  <a:txBody>
                    <a:bodyPr/>
                    <a:lstStyle/>
                    <a:p>
                      <a:pPr indent="0" marL="0">
                        <a:buNone/>
                      </a:pPr>
                      <a:r>
                        <a:rPr lang="en-US" sz="1400" b="1" dirty="0">
                          <a:solidFill>
                            <a:srgbClr val="0B4F52"/>
                          </a:solidFill>
                        </a:rPr>
                        <a:t>DHT11</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DHT11 vs meter, 10 readings</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Within ±2 °C, ±5 % RH</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r>
              <a:tr h="330000">
                <a:tc>
                  <a:txBody>
                    <a:bodyPr/>
                    <a:lstStyle/>
                    <a:p>
                      <a:pPr indent="0" marL="0">
                        <a:buNone/>
                      </a:pPr>
                      <a:r>
                        <a:rPr lang="en-US" sz="1400" b="1" dirty="0">
                          <a:solidFill>
                            <a:srgbClr val="0B4F52"/>
                          </a:solidFill>
                        </a:rPr>
                        <a:t>PIN lock</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3 wrong PINs, then the right PIN by knob</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Locks 30 s, then accepts</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r>
              <a:tr h="330000">
                <a:tc>
                  <a:txBody>
                    <a:bodyPr/>
                    <a:lstStyle/>
                    <a:p>
                      <a:pPr indent="0" marL="0">
                        <a:buNone/>
                      </a:pPr>
                      <a:r>
                        <a:rPr lang="en-US" sz="1400" b="1" dirty="0">
                          <a:solidFill>
                            <a:srgbClr val="0B4F52"/>
                          </a:solidFill>
                        </a:rPr>
                        <a:t>Illness mode</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Pick each illness; lid opens, list shown</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c>
                  <a:txBody>
                    <a:bodyPr/>
                    <a:lstStyle/>
                    <a:p>
                      <a:pPr indent="0" marL="0">
                        <a:buNone/>
                      </a:pPr>
                      <a:r>
                        <a:rPr lang="en-US" sz="1400" dirty="0">
                          <a:solidFill>
                            <a:srgbClr val="10292B"/>
                          </a:solidFill>
                        </a:rPr>
                        <a:t>Right medicines; lid closes; repeat blocked</a:t>
                      </a:r>
                      <a:endParaRPr lang="en-US" sz="1400" dirty="0"/>
                    </a:p>
                  </a:txBody>
                  <a:tcPr marL="91440" marR="91440" marT="27432" marB="27432" anchor="ctr">
                    <a:lnL w="9525" cap="flat" cmpd="sng" algn="ctr">
                      <a:solidFill>
                        <a:srgbClr val="CFE3E0"/>
                      </a:solidFill>
                      <a:prstDash val="solid"/>
                      <a:round/>
                      <a:headEnd type="none" w="med" len="med"/>
                      <a:tailEnd type="none" w="med" len="med"/>
                    </a:lnL>
                    <a:lnR w="9525" cap="flat" cmpd="sng" algn="ctr">
                      <a:solidFill>
                        <a:srgbClr val="CFE3E0"/>
                      </a:solidFill>
                      <a:prstDash val="solid"/>
                      <a:round/>
                      <a:headEnd type="none" w="med" len="med"/>
                      <a:tailEnd type="none" w="med" len="med"/>
                    </a:lnR>
                    <a:lnT w="9525" cap="flat" cmpd="sng" algn="ctr">
                      <a:solidFill>
                        <a:srgbClr val="CFE3E0"/>
                      </a:solidFill>
                      <a:prstDash val="solid"/>
                      <a:round/>
                      <a:headEnd type="none" w="med" len="med"/>
                      <a:tailEnd type="none" w="med" len="med"/>
                    </a:lnT>
                    <a:lnB w="9525" cap="flat" cmpd="sng" algn="ctr">
                      <a:solidFill>
                        <a:srgbClr val="CFE3E0"/>
                      </a:solidFill>
                      <a:prstDash val="solid"/>
                      <a:round/>
                      <a:headEnd type="none" w="med" len="med"/>
                      <a:tailEnd type="none" w="med" len="med"/>
                    </a:lnB>
                    <a:solidFill>
                      <a:srgbClr val="FFFFFF"/>
                    </a:solidFill>
                  </a:tcPr>
                </a:tc>
              </a:tr>
            </a:tbl>
          </a:graphicData>
        </a:graphic>
      </p:graphicFrame>
      <p:sp>
        <p:nvSpPr>
          <p:cNvPr id="5" name="Card 54"/>
          <p:cNvSpPr/>
          <p:nvPr/>
        </p:nvSpPr>
        <p:spPr>
          <a:xfrm>
            <a:off x="548640" y="4206240"/>
            <a:ext cx="8046720" cy="457200"/>
          </a:xfrm>
          <a:prstGeom prst="roundRect">
            <a:avLst>
              <a:gd name="adj" fmla="val 24000"/>
            </a:avLst>
          </a:prstGeom>
          <a:solidFill>
            <a:schemeClr val="bg2"/>
          </a:solidFill>
          <a:ln w="12700">
            <a:solidFill>
              <a:schemeClr val="bg2"/>
            </a:solidFill>
            <a:prstDash val="solid"/>
          </a:ln>
        </p:spPr>
      </p:sp>
      <p:pic>
        <p:nvPicPr>
          <p:cNvPr id="6" name="Image 0" descr="warning icon">    </p:cNvPr>
          <p:cNvPicPr>
            <a:picLocks noChangeAspect="1"/>
          </p:cNvPicPr>
          <p:nvPr/>
        </p:nvPicPr>
        <p:blipFill>
          <a:blip r:embed="rId1"/>
          <a:stretch>
            <a:fillRect/>
          </a:stretch>
        </p:blipFill>
        <p:spPr>
          <a:xfrm>
            <a:off x="731520" y="4297680"/>
            <a:ext cx="274320" cy="274320"/>
          </a:xfrm>
          <a:prstGeom prst="rect">
            <a:avLst/>
          </a:prstGeom>
        </p:spPr>
      </p:pic>
      <p:sp>
        <p:nvSpPr>
          <p:cNvPr id="7" name="Text 3"/>
          <p:cNvSpPr txBox="1"/>
          <p:nvPr/>
        </p:nvSpPr>
        <p:spPr>
          <a:xfrm>
            <a:off x="1143000" y="4206240"/>
            <a:ext cx="7315200" cy="457200"/>
          </a:xfrm>
          <a:prstGeom prst="rect">
            <a:avLst/>
          </a:prstGeom>
          <a:noFill/>
          <a:ln/>
        </p:spPr>
        <p:txBody>
          <a:bodyPr wrap="square" lIns="0" tIns="0" rIns="0" bIns="0" rtlCol="0" anchor="ctr"/>
          <a:lstStyle/>
          <a:p>
            <a:pPr indent="0" marL="0">
              <a:buNone/>
            </a:pPr>
            <a:r>
              <a:rPr lang="en-US" sz="1400" dirty="0">
                <a:solidFill>
                  <a:schemeClr val="tx1"/>
                </a:solidFill>
              </a:rPr>
              <a:t>Known limit: IR confirms pickup, not swallowing. Next step: weight sensor or camera.</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iterion tag 6"/>
          <p:cNvSpPr txBox="1"/>
          <p:nvPr/>
        </p:nvSpPr>
        <p:spPr>
          <a:xfrm>
            <a:off x="548640" y="310896"/>
            <a:ext cx="4939589"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2 OF 5  |  PROPOSED SOLUTION &amp; INNOVATION</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Minor Illness Mode</a:t>
            </a:r>
            <a:endParaRPr lang="en-US" sz="3400" dirty="0"/>
          </a:p>
        </p:txBody>
      </p:sp>
      <p:sp>
        <p:nvSpPr>
          <p:cNvPr id="4" name="Card 7"/>
          <p:cNvSpPr/>
          <p:nvPr/>
        </p:nvSpPr>
        <p:spPr>
          <a:xfrm>
            <a:off x="548640" y="1463040"/>
            <a:ext cx="1874520" cy="1965960"/>
          </a:xfrm>
          <a:prstGeom prst="roundRect">
            <a:avLst>
              <a:gd name="adj" fmla="val 5854"/>
            </a:avLst>
          </a:prstGeom>
          <a:solidFill>
            <a:schemeClr val="bg2"/>
          </a:solidFill>
          <a:ln w="12700">
            <a:solidFill>
              <a:schemeClr val="bg2"/>
            </a:solidFill>
            <a:prstDash val="solid"/>
          </a:ln>
        </p:spPr>
      </p:sp>
      <p:sp>
        <p:nvSpPr>
          <p:cNvPr id="5" name="Icon circle 8"/>
          <p:cNvSpPr/>
          <p:nvPr/>
        </p:nvSpPr>
        <p:spPr>
          <a:xfrm>
            <a:off x="731520" y="1627632"/>
            <a:ext cx="548640" cy="54864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874166" y="1770278"/>
            <a:ext cx="263347" cy="263347"/>
          </a:xfrm>
          <a:prstGeom prst="rect">
            <a:avLst/>
          </a:prstGeom>
        </p:spPr>
      </p:pic>
      <p:sp>
        <p:nvSpPr>
          <p:cNvPr id="7" name="Step number 01"/>
          <p:cNvSpPr txBox="1"/>
          <p:nvPr/>
        </p:nvSpPr>
        <p:spPr>
          <a:xfrm>
            <a:off x="1645920" y="1691640"/>
            <a:ext cx="59436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dirty="0">
                <a:solidFill>
                  <a:schemeClr val="bg1"/>
                </a:solidFill>
              </a:rPr>
              <a:t>01</a:t>
            </a:r>
            <a:endParaRPr lang="en-US" sz="1200" dirty="0"/>
          </a:p>
        </p:txBody>
      </p:sp>
      <p:sp>
        <p:nvSpPr>
          <p:cNvPr id="8" name="Text 5"/>
          <p:cNvSpPr txBox="1"/>
          <p:nvPr/>
        </p:nvSpPr>
        <p:spPr>
          <a:xfrm>
            <a:off x="731520" y="2331720"/>
            <a:ext cx="1554480" cy="320040"/>
          </a:xfrm>
          <a:prstGeom prst="rect">
            <a:avLst/>
          </a:prstGeom>
          <a:noFill/>
          <a:ln/>
        </p:spPr>
        <p:txBody>
          <a:bodyPr wrap="square" lIns="0" tIns="0" rIns="0" bIns="0" rtlCol="0" anchor="t"/>
          <a:lstStyle/>
          <a:p>
            <a:pPr indent="0" marL="0">
              <a:buNone/>
            </a:pPr>
            <a:r>
              <a:rPr lang="en-US" sz="1800" b="1" dirty="0">
                <a:solidFill>
                  <a:schemeClr val="tx2"/>
                </a:solidFill>
              </a:rPr>
              <a:t>Choose</a:t>
            </a:r>
            <a:endParaRPr lang="en-US" sz="1800" dirty="0"/>
          </a:p>
        </p:txBody>
      </p:sp>
      <p:sp>
        <p:nvSpPr>
          <p:cNvPr id="9" name="Text 6"/>
          <p:cNvSpPr txBox="1"/>
          <p:nvPr/>
        </p:nvSpPr>
        <p:spPr>
          <a:xfrm>
            <a:off x="731520" y="2697480"/>
            <a:ext cx="1554480" cy="640080"/>
          </a:xfrm>
          <a:prstGeom prst="rect">
            <a:avLst/>
          </a:prstGeom>
          <a:noFill/>
          <a:ln/>
        </p:spPr>
        <p:txBody>
          <a:bodyPr wrap="square" lIns="0" tIns="0" rIns="0" bIns="0" rtlCol="0" anchor="t"/>
          <a:lstStyle/>
          <a:p>
            <a:pPr indent="0" marL="0">
              <a:buNone/>
            </a:pPr>
            <a:r>
              <a:rPr lang="en-US" sz="1400" dirty="0">
                <a:solidFill>
                  <a:schemeClr val="tx1"/>
                </a:solidFill>
              </a:rPr>
              <a:t>Knob picks the illness, OK confirms</a:t>
            </a:r>
            <a:endParaRPr lang="en-US" sz="1400" dirty="0"/>
          </a:p>
        </p:txBody>
      </p:sp>
      <p:sp>
        <p:nvSpPr>
          <p:cNvPr id="10" name="Card 9"/>
          <p:cNvSpPr/>
          <p:nvPr/>
        </p:nvSpPr>
        <p:spPr>
          <a:xfrm>
            <a:off x="2606040" y="1463040"/>
            <a:ext cx="1874520" cy="1965960"/>
          </a:xfrm>
          <a:prstGeom prst="roundRect">
            <a:avLst>
              <a:gd name="adj" fmla="val 5854"/>
            </a:avLst>
          </a:prstGeom>
          <a:solidFill>
            <a:schemeClr val="bg2"/>
          </a:solidFill>
          <a:ln w="12700">
            <a:solidFill>
              <a:schemeClr val="bg2"/>
            </a:solidFill>
            <a:prstDash val="solid"/>
          </a:ln>
        </p:spPr>
      </p:sp>
      <p:sp>
        <p:nvSpPr>
          <p:cNvPr id="11" name="Icon circle 10"/>
          <p:cNvSpPr/>
          <p:nvPr/>
        </p:nvSpPr>
        <p:spPr>
          <a:xfrm>
            <a:off x="2788920" y="1627632"/>
            <a:ext cx="548640" cy="548640"/>
          </a:xfrm>
          <a:prstGeom prst="ellipse">
            <a:avLst/>
          </a:prstGeom>
          <a:solidFill>
            <a:schemeClr val="accent1"/>
          </a:solidFill>
          <a:ln w="12700">
            <a:solidFill>
              <a:schemeClr val="accent1"/>
            </a:solidFill>
            <a:prstDash val="solid"/>
          </a:ln>
        </p:spPr>
      </p:sp>
      <p:pic>
        <p:nvPicPr>
          <p:cNvPr id="12" name="Image 1" descr="icon">    </p:cNvPr>
          <p:cNvPicPr>
            <a:picLocks noChangeAspect="1"/>
          </p:cNvPicPr>
          <p:nvPr/>
        </p:nvPicPr>
        <p:blipFill>
          <a:blip r:embed="rId2"/>
          <a:stretch>
            <a:fillRect/>
          </a:stretch>
        </p:blipFill>
        <p:spPr>
          <a:xfrm>
            <a:off x="2931566" y="1770278"/>
            <a:ext cx="263347" cy="263347"/>
          </a:xfrm>
          <a:prstGeom prst="rect">
            <a:avLst/>
          </a:prstGeom>
        </p:spPr>
      </p:pic>
      <p:sp>
        <p:nvSpPr>
          <p:cNvPr id="13" name="Step number 02"/>
          <p:cNvSpPr txBox="1"/>
          <p:nvPr/>
        </p:nvSpPr>
        <p:spPr>
          <a:xfrm>
            <a:off x="3703320" y="1691640"/>
            <a:ext cx="59436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dirty="0">
                <a:solidFill>
                  <a:schemeClr val="bg1"/>
                </a:solidFill>
              </a:rPr>
              <a:t>02</a:t>
            </a:r>
            <a:endParaRPr lang="en-US" sz="1200" dirty="0"/>
          </a:p>
        </p:txBody>
      </p:sp>
      <p:sp>
        <p:nvSpPr>
          <p:cNvPr id="14" name="Text 10"/>
          <p:cNvSpPr txBox="1"/>
          <p:nvPr/>
        </p:nvSpPr>
        <p:spPr>
          <a:xfrm>
            <a:off x="2788920" y="2331720"/>
            <a:ext cx="1554480" cy="320040"/>
          </a:xfrm>
          <a:prstGeom prst="rect">
            <a:avLst/>
          </a:prstGeom>
          <a:noFill/>
          <a:ln/>
        </p:spPr>
        <p:txBody>
          <a:bodyPr wrap="square" lIns="0" tIns="0" rIns="0" bIns="0" rtlCol="0" anchor="t"/>
          <a:lstStyle/>
          <a:p>
            <a:pPr indent="0" marL="0">
              <a:buNone/>
            </a:pPr>
            <a:r>
              <a:rPr lang="en-US" sz="1800" b="1" dirty="0">
                <a:solidFill>
                  <a:schemeClr val="tx2"/>
                </a:solidFill>
              </a:rPr>
              <a:t>Prescription</a:t>
            </a:r>
            <a:endParaRPr lang="en-US" sz="1800" dirty="0"/>
          </a:p>
        </p:txBody>
      </p:sp>
      <p:sp>
        <p:nvSpPr>
          <p:cNvPr id="15" name="Text 11"/>
          <p:cNvSpPr txBox="1"/>
          <p:nvPr/>
        </p:nvSpPr>
        <p:spPr>
          <a:xfrm>
            <a:off x="2788920" y="2697480"/>
            <a:ext cx="1554480" cy="640080"/>
          </a:xfrm>
          <a:prstGeom prst="rect">
            <a:avLst/>
          </a:prstGeom>
          <a:noFill/>
          <a:ln/>
        </p:spPr>
        <p:txBody>
          <a:bodyPr wrap="square" lIns="0" tIns="0" rIns="0" bIns="0" rtlCol="0" anchor="t"/>
          <a:lstStyle/>
          <a:p>
            <a:pPr indent="0" marL="0">
              <a:buNone/>
            </a:pPr>
            <a:r>
              <a:rPr lang="en-US" sz="1400" dirty="0">
                <a:solidFill>
                  <a:schemeClr val="tx1"/>
                </a:solidFill>
              </a:rPr>
              <a:t>LCD shows the saved prescription</a:t>
            </a:r>
            <a:endParaRPr lang="en-US" sz="1400" dirty="0"/>
          </a:p>
        </p:txBody>
      </p:sp>
      <p:sp>
        <p:nvSpPr>
          <p:cNvPr id="16" name="Card 11"/>
          <p:cNvSpPr/>
          <p:nvPr/>
        </p:nvSpPr>
        <p:spPr>
          <a:xfrm>
            <a:off x="4663440" y="1463040"/>
            <a:ext cx="1874520" cy="1965960"/>
          </a:xfrm>
          <a:prstGeom prst="roundRect">
            <a:avLst>
              <a:gd name="adj" fmla="val 5854"/>
            </a:avLst>
          </a:prstGeom>
          <a:solidFill>
            <a:schemeClr val="bg2"/>
          </a:solidFill>
          <a:ln w="12700">
            <a:solidFill>
              <a:schemeClr val="bg2"/>
            </a:solidFill>
            <a:prstDash val="solid"/>
          </a:ln>
        </p:spPr>
      </p:sp>
      <p:sp>
        <p:nvSpPr>
          <p:cNvPr id="17" name="Icon circle 12"/>
          <p:cNvSpPr/>
          <p:nvPr/>
        </p:nvSpPr>
        <p:spPr>
          <a:xfrm>
            <a:off x="4846320" y="1627632"/>
            <a:ext cx="548640" cy="548640"/>
          </a:xfrm>
          <a:prstGeom prst="ellipse">
            <a:avLst/>
          </a:prstGeom>
          <a:solidFill>
            <a:schemeClr val="accent1"/>
          </a:solidFill>
          <a:ln w="12700">
            <a:solidFill>
              <a:schemeClr val="accent1"/>
            </a:solidFill>
            <a:prstDash val="solid"/>
          </a:ln>
        </p:spPr>
      </p:sp>
      <p:pic>
        <p:nvPicPr>
          <p:cNvPr id="18" name="Image 2" descr="icon">    </p:cNvPr>
          <p:cNvPicPr>
            <a:picLocks noChangeAspect="1"/>
          </p:cNvPicPr>
          <p:nvPr/>
        </p:nvPicPr>
        <p:blipFill>
          <a:blip r:embed="rId3"/>
          <a:stretch>
            <a:fillRect/>
          </a:stretch>
        </p:blipFill>
        <p:spPr>
          <a:xfrm>
            <a:off x="4988966" y="1770278"/>
            <a:ext cx="263347" cy="263347"/>
          </a:xfrm>
          <a:prstGeom prst="rect">
            <a:avLst/>
          </a:prstGeom>
        </p:spPr>
      </p:pic>
      <p:sp>
        <p:nvSpPr>
          <p:cNvPr id="19" name="Step number 03"/>
          <p:cNvSpPr txBox="1"/>
          <p:nvPr/>
        </p:nvSpPr>
        <p:spPr>
          <a:xfrm>
            <a:off x="5760720" y="1691640"/>
            <a:ext cx="59436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20" name="Text 15"/>
          <p:cNvSpPr txBox="1"/>
          <p:nvPr/>
        </p:nvSpPr>
        <p:spPr>
          <a:xfrm>
            <a:off x="4846320" y="2331720"/>
            <a:ext cx="1554480" cy="320040"/>
          </a:xfrm>
          <a:prstGeom prst="rect">
            <a:avLst/>
          </a:prstGeom>
          <a:noFill/>
          <a:ln/>
        </p:spPr>
        <p:txBody>
          <a:bodyPr wrap="square" lIns="0" tIns="0" rIns="0" bIns="0" rtlCol="0" anchor="t"/>
          <a:lstStyle/>
          <a:p>
            <a:pPr indent="0" marL="0">
              <a:buNone/>
            </a:pPr>
            <a:r>
              <a:rPr lang="en-US" sz="1800" b="1" dirty="0">
                <a:solidFill>
                  <a:schemeClr val="tx2"/>
                </a:solidFill>
              </a:rPr>
              <a:t>Open</a:t>
            </a:r>
            <a:endParaRPr lang="en-US" sz="1800" dirty="0"/>
          </a:p>
        </p:txBody>
      </p:sp>
      <p:sp>
        <p:nvSpPr>
          <p:cNvPr id="21" name="Text 16"/>
          <p:cNvSpPr txBox="1"/>
          <p:nvPr/>
        </p:nvSpPr>
        <p:spPr>
          <a:xfrm>
            <a:off x="4846320" y="2697480"/>
            <a:ext cx="1554480" cy="640080"/>
          </a:xfrm>
          <a:prstGeom prst="rect">
            <a:avLst/>
          </a:prstGeom>
          <a:noFill/>
          <a:ln/>
        </p:spPr>
        <p:txBody>
          <a:bodyPr wrap="square" lIns="0" tIns="0" rIns="0" bIns="0" rtlCol="0" anchor="t"/>
          <a:lstStyle/>
          <a:p>
            <a:pPr indent="0" marL="0">
              <a:buNone/>
            </a:pPr>
            <a:r>
              <a:rPr lang="en-US" sz="1400" dirty="0">
                <a:solidFill>
                  <a:schemeClr val="tx1"/>
                </a:solidFill>
              </a:rPr>
              <a:t>Servo lifts the medicine box lid</a:t>
            </a:r>
            <a:endParaRPr lang="en-US" sz="1400" dirty="0"/>
          </a:p>
        </p:txBody>
      </p:sp>
      <p:sp>
        <p:nvSpPr>
          <p:cNvPr id="22" name="Card 13"/>
          <p:cNvSpPr/>
          <p:nvPr/>
        </p:nvSpPr>
        <p:spPr>
          <a:xfrm>
            <a:off x="6720840" y="1463040"/>
            <a:ext cx="1874520" cy="1965960"/>
          </a:xfrm>
          <a:prstGeom prst="roundRect">
            <a:avLst>
              <a:gd name="adj" fmla="val 5854"/>
            </a:avLst>
          </a:prstGeom>
          <a:solidFill>
            <a:schemeClr val="bg2"/>
          </a:solidFill>
          <a:ln w="12700">
            <a:solidFill>
              <a:schemeClr val="bg2"/>
            </a:solidFill>
            <a:prstDash val="solid"/>
          </a:ln>
        </p:spPr>
      </p:sp>
      <p:sp>
        <p:nvSpPr>
          <p:cNvPr id="23" name="Icon circle 14"/>
          <p:cNvSpPr/>
          <p:nvPr/>
        </p:nvSpPr>
        <p:spPr>
          <a:xfrm>
            <a:off x="6903720" y="1627632"/>
            <a:ext cx="548640" cy="548640"/>
          </a:xfrm>
          <a:prstGeom prst="ellipse">
            <a:avLst/>
          </a:prstGeom>
          <a:solidFill>
            <a:schemeClr val="accent2"/>
          </a:solidFill>
          <a:ln w="12700">
            <a:solidFill>
              <a:schemeClr val="accent2"/>
            </a:solidFill>
            <a:prstDash val="solid"/>
          </a:ln>
        </p:spPr>
      </p:sp>
      <p:pic>
        <p:nvPicPr>
          <p:cNvPr id="24" name="Image 3" descr="icon">    </p:cNvPr>
          <p:cNvPicPr>
            <a:picLocks noChangeAspect="1"/>
          </p:cNvPicPr>
          <p:nvPr/>
        </p:nvPicPr>
        <p:blipFill>
          <a:blip r:embed="rId4"/>
          <a:stretch>
            <a:fillRect/>
          </a:stretch>
        </p:blipFill>
        <p:spPr>
          <a:xfrm>
            <a:off x="7046366" y="1770278"/>
            <a:ext cx="263347" cy="263347"/>
          </a:xfrm>
          <a:prstGeom prst="rect">
            <a:avLst/>
          </a:prstGeom>
        </p:spPr>
      </p:pic>
      <p:sp>
        <p:nvSpPr>
          <p:cNvPr id="25" name="Step number 04"/>
          <p:cNvSpPr txBox="1"/>
          <p:nvPr/>
        </p:nvSpPr>
        <p:spPr>
          <a:xfrm>
            <a:off x="7818120" y="1691640"/>
            <a:ext cx="594360" cy="274320"/>
          </a:xfrm>
          <a:prstGeom prst="roundRect">
            <a:avLst>
              <a:gd name="adj" fmla="val 50000"/>
            </a:avLst>
          </a:prstGeom>
          <a:solidFill>
            <a:schemeClr val="tx2"/>
          </a:solidFill>
          <a:ln/>
        </p:spPr>
        <p:txBody>
          <a:bodyPr wrap="square" lIns="0" tIns="0" rIns="0" bIns="0" rtlCol="0" anchor="ctr"/>
          <a:lstStyle/>
          <a:p>
            <a:pPr algn="ctr" indent="0" marL="0">
              <a:buNone/>
            </a:pPr>
            <a:r>
              <a:rPr lang="en-US" sz="1200" b="1" dirty="0">
                <a:solidFill>
                  <a:schemeClr val="bg1"/>
                </a:solidFill>
              </a:rPr>
              <a:t>04</a:t>
            </a:r>
            <a:endParaRPr lang="en-US" sz="1200" dirty="0"/>
          </a:p>
        </p:txBody>
      </p:sp>
      <p:sp>
        <p:nvSpPr>
          <p:cNvPr id="26" name="Text 20"/>
          <p:cNvSpPr txBox="1"/>
          <p:nvPr/>
        </p:nvSpPr>
        <p:spPr>
          <a:xfrm>
            <a:off x="6903720" y="2331720"/>
            <a:ext cx="1554480" cy="320040"/>
          </a:xfrm>
          <a:prstGeom prst="rect">
            <a:avLst/>
          </a:prstGeom>
          <a:noFill/>
          <a:ln/>
        </p:spPr>
        <p:txBody>
          <a:bodyPr wrap="square" lIns="0" tIns="0" rIns="0" bIns="0" rtlCol="0" anchor="t"/>
          <a:lstStyle/>
          <a:p>
            <a:pPr indent="0" marL="0">
              <a:buNone/>
            </a:pPr>
            <a:r>
              <a:rPr lang="en-US" sz="1800" b="1" dirty="0">
                <a:solidFill>
                  <a:schemeClr val="tx2"/>
                </a:solidFill>
              </a:rPr>
              <a:t>Close</a:t>
            </a:r>
            <a:endParaRPr lang="en-US" sz="1800" dirty="0"/>
          </a:p>
        </p:txBody>
      </p:sp>
      <p:sp>
        <p:nvSpPr>
          <p:cNvPr id="27" name="Text 21"/>
          <p:cNvSpPr txBox="1"/>
          <p:nvPr/>
        </p:nvSpPr>
        <p:spPr>
          <a:xfrm>
            <a:off x="6903720" y="2697480"/>
            <a:ext cx="1554480" cy="640080"/>
          </a:xfrm>
          <a:prstGeom prst="rect">
            <a:avLst/>
          </a:prstGeom>
          <a:noFill/>
          <a:ln/>
        </p:spPr>
        <p:txBody>
          <a:bodyPr wrap="square" lIns="0" tIns="0" rIns="0" bIns="0" rtlCol="0" anchor="t"/>
          <a:lstStyle/>
          <a:p>
            <a:pPr indent="0" marL="0">
              <a:buNone/>
            </a:pPr>
            <a:r>
              <a:rPr lang="en-US" sz="1400" dirty="0">
                <a:solidFill>
                  <a:schemeClr val="tx1"/>
                </a:solidFill>
              </a:rPr>
              <a:t>OK closes the box, repeat use is locked</a:t>
            </a:r>
            <a:endParaRPr lang="en-US" sz="1400" dirty="0"/>
          </a:p>
        </p:txBody>
      </p:sp>
      <p:sp>
        <p:nvSpPr>
          <p:cNvPr id="28" name="Innovation band"/>
          <p:cNvSpPr/>
          <p:nvPr/>
        </p:nvSpPr>
        <p:spPr>
          <a:xfrm>
            <a:off x="548640" y="3611880"/>
            <a:ext cx="8046720" cy="1051560"/>
          </a:xfrm>
          <a:prstGeom prst="roundRect">
            <a:avLst>
              <a:gd name="adj" fmla="val 10435"/>
            </a:avLst>
          </a:prstGeom>
          <a:solidFill>
            <a:schemeClr val="tx2"/>
          </a:solidFill>
          <a:ln w="12700">
            <a:solidFill>
              <a:schemeClr val="tx2"/>
            </a:solidFill>
            <a:prstDash val="solid"/>
          </a:ln>
        </p:spPr>
      </p:sp>
      <p:sp>
        <p:nvSpPr>
          <p:cNvPr id="29" name="Text 23"/>
          <p:cNvSpPr txBox="1"/>
          <p:nvPr/>
        </p:nvSpPr>
        <p:spPr>
          <a:xfrm>
            <a:off x="777240" y="3703320"/>
            <a:ext cx="3657600" cy="201168"/>
          </a:xfrm>
          <a:prstGeom prst="rect">
            <a:avLst/>
          </a:prstGeom>
          <a:noFill/>
          <a:ln/>
        </p:spPr>
        <p:txBody>
          <a:bodyPr wrap="square" lIns="0" tIns="0" rIns="0" bIns="0" rtlCol="0" anchor="t"/>
          <a:lstStyle/>
          <a:p>
            <a:pPr indent="0" marL="0">
              <a:buNone/>
            </a:pPr>
            <a:r>
              <a:rPr lang="en-US" sz="1000" b="1" spc="100" kern="0" dirty="0">
                <a:solidFill>
                  <a:schemeClr val="accent5"/>
                </a:solidFill>
              </a:rPr>
              <a:t>SAFETY BUILT IN</a:t>
            </a:r>
            <a:endParaRPr lang="en-US" sz="1000" dirty="0"/>
          </a:p>
        </p:txBody>
      </p:sp>
      <p:sp>
        <p:nvSpPr>
          <p:cNvPr id="30" name="Text 24"/>
          <p:cNvSpPr txBox="1"/>
          <p:nvPr/>
        </p:nvSpPr>
        <p:spPr>
          <a:xfrm>
            <a:off x="777240" y="3977640"/>
            <a:ext cx="2468880" cy="274320"/>
          </a:xfrm>
          <a:prstGeom prst="rect">
            <a:avLst/>
          </a:prstGeom>
          <a:noFill/>
          <a:ln/>
        </p:spPr>
        <p:txBody>
          <a:bodyPr wrap="square" lIns="0" tIns="0" rIns="0" bIns="0" rtlCol="0" anchor="t"/>
          <a:lstStyle/>
          <a:p>
            <a:pPr indent="0" marL="0">
              <a:buNone/>
            </a:pPr>
            <a:r>
              <a:rPr lang="en-US" sz="1600" b="1" dirty="0">
                <a:solidFill>
                  <a:schemeClr val="bg1"/>
                </a:solidFill>
              </a:rPr>
              <a:t>Saved prescriptions</a:t>
            </a:r>
            <a:endParaRPr lang="en-US" sz="1600" dirty="0"/>
          </a:p>
        </p:txBody>
      </p:sp>
      <p:sp>
        <p:nvSpPr>
          <p:cNvPr id="31" name="Text 25"/>
          <p:cNvSpPr txBox="1"/>
          <p:nvPr/>
        </p:nvSpPr>
        <p:spPr>
          <a:xfrm>
            <a:off x="777240" y="4270248"/>
            <a:ext cx="2468880" cy="274320"/>
          </a:xfrm>
          <a:prstGeom prst="rect">
            <a:avLst/>
          </a:prstGeom>
          <a:noFill/>
          <a:ln/>
        </p:spPr>
        <p:txBody>
          <a:bodyPr wrap="square" lIns="0" tIns="0" rIns="0" bIns="0" rtlCol="0" anchor="t"/>
          <a:lstStyle/>
          <a:p>
            <a:pPr indent="0" marL="0">
              <a:buNone/>
            </a:pPr>
            <a:r>
              <a:rPr lang="en-US" sz="1400" dirty="0">
                <a:solidFill>
                  <a:schemeClr val="bg2"/>
                </a:solidFill>
              </a:rPr>
              <a:t>Doctor-approved list per illness</a:t>
            </a:r>
            <a:endParaRPr lang="en-US" sz="1400" dirty="0"/>
          </a:p>
        </p:txBody>
      </p:sp>
      <p:sp>
        <p:nvSpPr>
          <p:cNvPr id="32" name="Text 26"/>
          <p:cNvSpPr txBox="1"/>
          <p:nvPr/>
        </p:nvSpPr>
        <p:spPr>
          <a:xfrm>
            <a:off x="3474720" y="3977640"/>
            <a:ext cx="2468880" cy="274320"/>
          </a:xfrm>
          <a:prstGeom prst="rect">
            <a:avLst/>
          </a:prstGeom>
          <a:noFill/>
          <a:ln/>
        </p:spPr>
        <p:txBody>
          <a:bodyPr wrap="square" lIns="0" tIns="0" rIns="0" bIns="0" rtlCol="0" anchor="t"/>
          <a:lstStyle/>
          <a:p>
            <a:pPr indent="0" marL="0">
              <a:buNone/>
            </a:pPr>
            <a:r>
              <a:rPr lang="en-US" sz="1600" b="1" dirty="0">
                <a:solidFill>
                  <a:schemeClr val="bg1"/>
                </a:solidFill>
              </a:rPr>
              <a:t>Repeat lock</a:t>
            </a:r>
            <a:endParaRPr lang="en-US" sz="1600" dirty="0"/>
          </a:p>
        </p:txBody>
      </p:sp>
      <p:sp>
        <p:nvSpPr>
          <p:cNvPr id="33" name="Text 27"/>
          <p:cNvSpPr txBox="1"/>
          <p:nvPr/>
        </p:nvSpPr>
        <p:spPr>
          <a:xfrm>
            <a:off x="3474720" y="4270248"/>
            <a:ext cx="2468880" cy="274320"/>
          </a:xfrm>
          <a:prstGeom prst="rect">
            <a:avLst/>
          </a:prstGeom>
          <a:noFill/>
          <a:ln/>
        </p:spPr>
        <p:txBody>
          <a:bodyPr wrap="square" lIns="0" tIns="0" rIns="0" bIns="0" rtlCol="0" anchor="t"/>
          <a:lstStyle/>
          <a:p>
            <a:pPr indent="0" marL="0">
              <a:buNone/>
            </a:pPr>
            <a:r>
              <a:rPr lang="en-US" sz="1400" dirty="0">
                <a:solidFill>
                  <a:schemeClr val="bg2"/>
                </a:solidFill>
              </a:rPr>
              <a:t>Same illness waits 4 hours</a:t>
            </a:r>
            <a:endParaRPr lang="en-US" sz="1400" dirty="0"/>
          </a:p>
        </p:txBody>
      </p:sp>
      <p:sp>
        <p:nvSpPr>
          <p:cNvPr id="34" name="Text 28"/>
          <p:cNvSpPr txBox="1"/>
          <p:nvPr/>
        </p:nvSpPr>
        <p:spPr>
          <a:xfrm>
            <a:off x="6172200" y="3977640"/>
            <a:ext cx="2468880" cy="274320"/>
          </a:xfrm>
          <a:prstGeom prst="rect">
            <a:avLst/>
          </a:prstGeom>
          <a:noFill/>
          <a:ln/>
        </p:spPr>
        <p:txBody>
          <a:bodyPr wrap="square" lIns="0" tIns="0" rIns="0" bIns="0" rtlCol="0" anchor="t"/>
          <a:lstStyle/>
          <a:p>
            <a:pPr indent="0" marL="0">
              <a:buNone/>
            </a:pPr>
            <a:r>
              <a:rPr lang="en-US" sz="1600" b="1" dirty="0">
                <a:solidFill>
                  <a:schemeClr val="bg1"/>
                </a:solidFill>
              </a:rPr>
              <a:t>See a doctor</a:t>
            </a:r>
            <a:endParaRPr lang="en-US" sz="1600" dirty="0"/>
          </a:p>
        </p:txBody>
      </p:sp>
      <p:sp>
        <p:nvSpPr>
          <p:cNvPr id="35" name="Text 29"/>
          <p:cNvSpPr txBox="1"/>
          <p:nvPr/>
        </p:nvSpPr>
        <p:spPr>
          <a:xfrm>
            <a:off x="6172200" y="4270248"/>
            <a:ext cx="2468880" cy="274320"/>
          </a:xfrm>
          <a:prstGeom prst="rect">
            <a:avLst/>
          </a:prstGeom>
          <a:noFill/>
          <a:ln/>
        </p:spPr>
        <p:txBody>
          <a:bodyPr wrap="square" lIns="0" tIns="0" rIns="0" bIns="0" rtlCol="0" anchor="t"/>
          <a:lstStyle/>
          <a:p>
            <a:pPr indent="0" marL="0">
              <a:buNone/>
            </a:pPr>
            <a:r>
              <a:rPr lang="en-US" sz="1400" dirty="0">
                <a:solidFill>
                  <a:schemeClr val="bg2"/>
                </a:solidFill>
              </a:rPr>
              <a:t>Shown if no relief in 2 days</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3</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riterion tag 55"/>
          <p:cNvSpPr txBox="1"/>
          <p:nvPr/>
        </p:nvSpPr>
        <p:spPr>
          <a:xfrm>
            <a:off x="548640" y="310896"/>
            <a:ext cx="5464454"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100" kern="0" dirty="0">
                <a:solidFill>
                  <a:schemeClr val="bg1"/>
                </a:solidFill>
              </a:rPr>
              <a:t>SELECTION CRITERION 5 OF 5  |  REAL-LIFE APPLICATIONS &amp; FUTURE SCOPE</a:t>
            </a:r>
            <a:endParaRPr lang="en-US" sz="1000" dirty="0"/>
          </a:p>
        </p:txBody>
      </p:sp>
      <p:sp>
        <p:nvSpPr>
          <p:cNvPr id="3" name="Text 1"/>
          <p:cNvSpPr/>
          <p:nvPr>
            <p:ph idx="101" type="title" hasCustomPrompt="1"/>
          </p:nvPr>
        </p:nvSpPr>
        <p:spPr>
          <a:xfrm>
            <a:off x="548640" y="621792"/>
            <a:ext cx="8046720" cy="640080"/>
          </a:xfrm>
          <a:prstGeom prst="rect">
            <a:avLst/>
          </a:prstGeom>
          <a:noFill/>
          <a:ln/>
        </p:spPr>
        <p:txBody>
          <a:bodyPr wrap="square" lIns="0" tIns="0" rIns="0" bIns="0" rtlCol="0" anchor="ctr"/>
          <a:lstStyle/>
          <a:p>
            <a:pPr algn="l" indent="0" marL="0">
              <a:buNone/>
            </a:pPr>
            <a:r>
              <a:rPr lang="en-US" sz="3400" b="1" dirty="0">
                <a:solidFill>
                  <a:schemeClr val="tx2"/>
                </a:solidFill>
              </a:rPr>
              <a:t>Applications &amp; Future Scope</a:t>
            </a:r>
            <a:endParaRPr lang="en-US" sz="3400" dirty="0"/>
          </a:p>
        </p:txBody>
      </p:sp>
      <p:sp>
        <p:nvSpPr>
          <p:cNvPr id="4" name="Card 56"/>
          <p:cNvSpPr/>
          <p:nvPr/>
        </p:nvSpPr>
        <p:spPr>
          <a:xfrm>
            <a:off x="548640" y="1463040"/>
            <a:ext cx="1874520" cy="1417320"/>
          </a:xfrm>
          <a:prstGeom prst="roundRect">
            <a:avLst>
              <a:gd name="adj" fmla="val 7742"/>
            </a:avLst>
          </a:prstGeom>
          <a:solidFill>
            <a:schemeClr val="bg2"/>
          </a:solidFill>
          <a:ln w="12700">
            <a:solidFill>
              <a:schemeClr val="bg2"/>
            </a:solidFill>
            <a:prstDash val="solid"/>
          </a:ln>
        </p:spPr>
      </p:sp>
      <p:sp>
        <p:nvSpPr>
          <p:cNvPr id="5" name="Icon circle 57"/>
          <p:cNvSpPr/>
          <p:nvPr/>
        </p:nvSpPr>
        <p:spPr>
          <a:xfrm>
            <a:off x="731520" y="1627632"/>
            <a:ext cx="502920" cy="50292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862279" y="1758391"/>
            <a:ext cx="241402" cy="241402"/>
          </a:xfrm>
          <a:prstGeom prst="rect">
            <a:avLst/>
          </a:prstGeom>
        </p:spPr>
      </p:pic>
      <p:sp>
        <p:nvSpPr>
          <p:cNvPr id="7" name="Text 4"/>
          <p:cNvSpPr txBox="1"/>
          <p:nvPr/>
        </p:nvSpPr>
        <p:spPr>
          <a:xfrm>
            <a:off x="731520" y="2240280"/>
            <a:ext cx="1600200" cy="274320"/>
          </a:xfrm>
          <a:prstGeom prst="rect">
            <a:avLst/>
          </a:prstGeom>
          <a:noFill/>
          <a:ln/>
        </p:spPr>
        <p:txBody>
          <a:bodyPr wrap="square" lIns="0" tIns="0" rIns="0" bIns="0" rtlCol="0" anchor="t"/>
          <a:lstStyle/>
          <a:p>
            <a:pPr indent="0" marL="0">
              <a:buNone/>
            </a:pPr>
            <a:r>
              <a:rPr lang="en-US" sz="1600" b="1" dirty="0">
                <a:solidFill>
                  <a:schemeClr val="tx2"/>
                </a:solidFill>
              </a:rPr>
              <a:t>Home care</a:t>
            </a:r>
            <a:endParaRPr lang="en-US" sz="1600" dirty="0"/>
          </a:p>
        </p:txBody>
      </p:sp>
      <p:sp>
        <p:nvSpPr>
          <p:cNvPr id="8" name="Text 5"/>
          <p:cNvSpPr txBox="1"/>
          <p:nvPr/>
        </p:nvSpPr>
        <p:spPr>
          <a:xfrm>
            <a:off x="731520" y="2514600"/>
            <a:ext cx="1600200" cy="274320"/>
          </a:xfrm>
          <a:prstGeom prst="rect">
            <a:avLst/>
          </a:prstGeom>
          <a:noFill/>
          <a:ln/>
        </p:spPr>
        <p:txBody>
          <a:bodyPr wrap="square" lIns="0" tIns="0" rIns="0" bIns="0" rtlCol="0" anchor="t"/>
          <a:lstStyle/>
          <a:p>
            <a:pPr indent="0" marL="0">
              <a:buNone/>
            </a:pPr>
            <a:r>
              <a:rPr lang="en-US" sz="1400" dirty="0">
                <a:solidFill>
                  <a:schemeClr val="tx1"/>
                </a:solidFill>
              </a:rPr>
              <a:t>Elders living alone</a:t>
            </a:r>
            <a:endParaRPr lang="en-US" sz="1400" dirty="0"/>
          </a:p>
        </p:txBody>
      </p:sp>
      <p:sp>
        <p:nvSpPr>
          <p:cNvPr id="9" name="Card 58"/>
          <p:cNvSpPr/>
          <p:nvPr/>
        </p:nvSpPr>
        <p:spPr>
          <a:xfrm>
            <a:off x="2606040" y="1463040"/>
            <a:ext cx="1874520" cy="1417320"/>
          </a:xfrm>
          <a:prstGeom prst="roundRect">
            <a:avLst>
              <a:gd name="adj" fmla="val 7742"/>
            </a:avLst>
          </a:prstGeom>
          <a:solidFill>
            <a:schemeClr val="bg2"/>
          </a:solidFill>
          <a:ln w="12700">
            <a:solidFill>
              <a:schemeClr val="bg2"/>
            </a:solidFill>
            <a:prstDash val="solid"/>
          </a:ln>
        </p:spPr>
      </p:sp>
      <p:sp>
        <p:nvSpPr>
          <p:cNvPr id="10" name="Icon circle 59"/>
          <p:cNvSpPr/>
          <p:nvPr/>
        </p:nvSpPr>
        <p:spPr>
          <a:xfrm>
            <a:off x="2788920" y="1627632"/>
            <a:ext cx="502920" cy="502920"/>
          </a:xfrm>
          <a:prstGeom prst="ellipse">
            <a:avLst/>
          </a:prstGeom>
          <a:solidFill>
            <a:schemeClr val="accent1"/>
          </a:solidFill>
          <a:ln w="12700">
            <a:solidFill>
              <a:schemeClr val="accent1"/>
            </a:solidFill>
            <a:prstDash val="solid"/>
          </a:ln>
        </p:spPr>
      </p:sp>
      <p:pic>
        <p:nvPicPr>
          <p:cNvPr id="11" name="Image 1" descr="icon">    </p:cNvPr>
          <p:cNvPicPr>
            <a:picLocks noChangeAspect="1"/>
          </p:cNvPicPr>
          <p:nvPr/>
        </p:nvPicPr>
        <p:blipFill>
          <a:blip r:embed="rId2"/>
          <a:stretch>
            <a:fillRect/>
          </a:stretch>
        </p:blipFill>
        <p:spPr>
          <a:xfrm>
            <a:off x="2919679" y="1758391"/>
            <a:ext cx="241402" cy="241402"/>
          </a:xfrm>
          <a:prstGeom prst="rect">
            <a:avLst/>
          </a:prstGeom>
        </p:spPr>
      </p:pic>
      <p:sp>
        <p:nvSpPr>
          <p:cNvPr id="12" name="Text 8"/>
          <p:cNvSpPr txBox="1"/>
          <p:nvPr/>
        </p:nvSpPr>
        <p:spPr>
          <a:xfrm>
            <a:off x="2788920" y="2240280"/>
            <a:ext cx="1600200" cy="274320"/>
          </a:xfrm>
          <a:prstGeom prst="rect">
            <a:avLst/>
          </a:prstGeom>
          <a:noFill/>
          <a:ln/>
        </p:spPr>
        <p:txBody>
          <a:bodyPr wrap="square" lIns="0" tIns="0" rIns="0" bIns="0" rtlCol="0" anchor="t"/>
          <a:lstStyle/>
          <a:p>
            <a:pPr indent="0" marL="0">
              <a:buNone/>
            </a:pPr>
            <a:r>
              <a:rPr lang="en-US" sz="1600" b="1" dirty="0">
                <a:solidFill>
                  <a:schemeClr val="tx2"/>
                </a:solidFill>
              </a:rPr>
              <a:t>Care homes</a:t>
            </a:r>
            <a:endParaRPr lang="en-US" sz="1600" dirty="0"/>
          </a:p>
        </p:txBody>
      </p:sp>
      <p:sp>
        <p:nvSpPr>
          <p:cNvPr id="13" name="Text 9"/>
          <p:cNvSpPr txBox="1"/>
          <p:nvPr/>
        </p:nvSpPr>
        <p:spPr>
          <a:xfrm>
            <a:off x="2788920" y="2514600"/>
            <a:ext cx="1600200" cy="274320"/>
          </a:xfrm>
          <a:prstGeom prst="rect">
            <a:avLst/>
          </a:prstGeom>
          <a:noFill/>
          <a:ln/>
        </p:spPr>
        <p:txBody>
          <a:bodyPr wrap="square" lIns="0" tIns="0" rIns="0" bIns="0" rtlCol="0" anchor="t"/>
          <a:lstStyle/>
          <a:p>
            <a:pPr indent="0" marL="0">
              <a:buNone/>
            </a:pPr>
            <a:r>
              <a:rPr lang="en-US" sz="1400" dirty="0">
                <a:solidFill>
                  <a:schemeClr val="tx1"/>
                </a:solidFill>
              </a:rPr>
              <a:t>Fewer manual rounds</a:t>
            </a:r>
            <a:endParaRPr lang="en-US" sz="1400" dirty="0"/>
          </a:p>
        </p:txBody>
      </p:sp>
      <p:sp>
        <p:nvSpPr>
          <p:cNvPr id="14" name="Card 60"/>
          <p:cNvSpPr/>
          <p:nvPr/>
        </p:nvSpPr>
        <p:spPr>
          <a:xfrm>
            <a:off x="548640" y="3063240"/>
            <a:ext cx="1874520" cy="1417320"/>
          </a:xfrm>
          <a:prstGeom prst="roundRect">
            <a:avLst>
              <a:gd name="adj" fmla="val 7742"/>
            </a:avLst>
          </a:prstGeom>
          <a:solidFill>
            <a:schemeClr val="bg2"/>
          </a:solidFill>
          <a:ln w="12700">
            <a:solidFill>
              <a:schemeClr val="bg2"/>
            </a:solidFill>
            <a:prstDash val="solid"/>
          </a:ln>
        </p:spPr>
      </p:sp>
      <p:sp>
        <p:nvSpPr>
          <p:cNvPr id="15" name="Icon circle 61"/>
          <p:cNvSpPr/>
          <p:nvPr/>
        </p:nvSpPr>
        <p:spPr>
          <a:xfrm>
            <a:off x="731520" y="3227832"/>
            <a:ext cx="502920" cy="502920"/>
          </a:xfrm>
          <a:prstGeom prst="ellipse">
            <a:avLst/>
          </a:prstGeom>
          <a:solidFill>
            <a:schemeClr val="accent1"/>
          </a:solidFill>
          <a:ln w="12700">
            <a:solidFill>
              <a:schemeClr val="accent1"/>
            </a:solidFill>
            <a:prstDash val="solid"/>
          </a:ln>
        </p:spPr>
      </p:sp>
      <p:pic>
        <p:nvPicPr>
          <p:cNvPr id="16" name="Image 2" descr="icon">    </p:cNvPr>
          <p:cNvPicPr>
            <a:picLocks noChangeAspect="1"/>
          </p:cNvPicPr>
          <p:nvPr/>
        </p:nvPicPr>
        <p:blipFill>
          <a:blip r:embed="rId3"/>
          <a:stretch>
            <a:fillRect/>
          </a:stretch>
        </p:blipFill>
        <p:spPr>
          <a:xfrm>
            <a:off x="862279" y="3358591"/>
            <a:ext cx="241402" cy="241402"/>
          </a:xfrm>
          <a:prstGeom prst="rect">
            <a:avLst/>
          </a:prstGeom>
        </p:spPr>
      </p:pic>
      <p:sp>
        <p:nvSpPr>
          <p:cNvPr id="17" name="Text 12"/>
          <p:cNvSpPr txBox="1"/>
          <p:nvPr/>
        </p:nvSpPr>
        <p:spPr>
          <a:xfrm>
            <a:off x="731520" y="3840480"/>
            <a:ext cx="1600200" cy="274320"/>
          </a:xfrm>
          <a:prstGeom prst="rect">
            <a:avLst/>
          </a:prstGeom>
          <a:noFill/>
          <a:ln/>
        </p:spPr>
        <p:txBody>
          <a:bodyPr wrap="square" lIns="0" tIns="0" rIns="0" bIns="0" rtlCol="0" anchor="t"/>
          <a:lstStyle/>
          <a:p>
            <a:pPr indent="0" marL="0">
              <a:buNone/>
            </a:pPr>
            <a:r>
              <a:rPr lang="en-US" sz="1600" b="1" dirty="0">
                <a:solidFill>
                  <a:schemeClr val="tx2"/>
                </a:solidFill>
              </a:rPr>
              <a:t>Hospital wards</a:t>
            </a:r>
            <a:endParaRPr lang="en-US" sz="1600" dirty="0"/>
          </a:p>
        </p:txBody>
      </p:sp>
      <p:sp>
        <p:nvSpPr>
          <p:cNvPr id="18" name="Text 13"/>
          <p:cNvSpPr txBox="1"/>
          <p:nvPr/>
        </p:nvSpPr>
        <p:spPr>
          <a:xfrm>
            <a:off x="731520" y="4114800"/>
            <a:ext cx="1600200" cy="274320"/>
          </a:xfrm>
          <a:prstGeom prst="rect">
            <a:avLst/>
          </a:prstGeom>
          <a:noFill/>
          <a:ln/>
        </p:spPr>
        <p:txBody>
          <a:bodyPr wrap="square" lIns="0" tIns="0" rIns="0" bIns="0" rtlCol="0" anchor="t"/>
          <a:lstStyle/>
          <a:p>
            <a:pPr indent="0" marL="0">
              <a:buNone/>
            </a:pPr>
            <a:r>
              <a:rPr lang="en-US" sz="1400" dirty="0">
                <a:solidFill>
                  <a:schemeClr val="tx1"/>
                </a:solidFill>
              </a:rPr>
              <a:t>Night-time dosing</a:t>
            </a:r>
            <a:endParaRPr lang="en-US" sz="1400" dirty="0"/>
          </a:p>
        </p:txBody>
      </p:sp>
      <p:sp>
        <p:nvSpPr>
          <p:cNvPr id="19" name="Card 62"/>
          <p:cNvSpPr/>
          <p:nvPr/>
        </p:nvSpPr>
        <p:spPr>
          <a:xfrm>
            <a:off x="2606040" y="3063240"/>
            <a:ext cx="1874520" cy="1417320"/>
          </a:xfrm>
          <a:prstGeom prst="roundRect">
            <a:avLst>
              <a:gd name="adj" fmla="val 7742"/>
            </a:avLst>
          </a:prstGeom>
          <a:solidFill>
            <a:schemeClr val="bg2"/>
          </a:solidFill>
          <a:ln w="12700">
            <a:solidFill>
              <a:schemeClr val="bg2"/>
            </a:solidFill>
            <a:prstDash val="solid"/>
          </a:ln>
        </p:spPr>
      </p:sp>
      <p:sp>
        <p:nvSpPr>
          <p:cNvPr id="20" name="Icon circle 63"/>
          <p:cNvSpPr/>
          <p:nvPr/>
        </p:nvSpPr>
        <p:spPr>
          <a:xfrm>
            <a:off x="2788920" y="3227832"/>
            <a:ext cx="502920" cy="502920"/>
          </a:xfrm>
          <a:prstGeom prst="ellipse">
            <a:avLst/>
          </a:prstGeom>
          <a:solidFill>
            <a:schemeClr val="accent1"/>
          </a:solidFill>
          <a:ln w="12700">
            <a:solidFill>
              <a:schemeClr val="accent1"/>
            </a:solidFill>
            <a:prstDash val="solid"/>
          </a:ln>
        </p:spPr>
      </p:sp>
      <p:pic>
        <p:nvPicPr>
          <p:cNvPr id="21" name="Image 3" descr="icon">    </p:cNvPr>
          <p:cNvPicPr>
            <a:picLocks noChangeAspect="1"/>
          </p:cNvPicPr>
          <p:nvPr/>
        </p:nvPicPr>
        <p:blipFill>
          <a:blip r:embed="rId4"/>
          <a:stretch>
            <a:fillRect/>
          </a:stretch>
        </p:blipFill>
        <p:spPr>
          <a:xfrm>
            <a:off x="2919679" y="3358591"/>
            <a:ext cx="241402" cy="241402"/>
          </a:xfrm>
          <a:prstGeom prst="rect">
            <a:avLst/>
          </a:prstGeom>
        </p:spPr>
      </p:pic>
      <p:sp>
        <p:nvSpPr>
          <p:cNvPr id="22" name="Text 16"/>
          <p:cNvSpPr txBox="1"/>
          <p:nvPr/>
        </p:nvSpPr>
        <p:spPr>
          <a:xfrm>
            <a:off x="2788920" y="3840480"/>
            <a:ext cx="1600200" cy="274320"/>
          </a:xfrm>
          <a:prstGeom prst="rect">
            <a:avLst/>
          </a:prstGeom>
          <a:noFill/>
          <a:ln/>
        </p:spPr>
        <p:txBody>
          <a:bodyPr wrap="square" lIns="0" tIns="0" rIns="0" bIns="0" rtlCol="0" anchor="t"/>
          <a:lstStyle/>
          <a:p>
            <a:pPr indent="0" marL="0">
              <a:buNone/>
            </a:pPr>
            <a:r>
              <a:rPr lang="en-US" sz="1600" b="1" dirty="0">
                <a:solidFill>
                  <a:schemeClr val="tx2"/>
                </a:solidFill>
              </a:rPr>
              <a:t>Rural clinics</a:t>
            </a:r>
            <a:endParaRPr lang="en-US" sz="1600" dirty="0"/>
          </a:p>
        </p:txBody>
      </p:sp>
      <p:sp>
        <p:nvSpPr>
          <p:cNvPr id="23" name="Text 17"/>
          <p:cNvSpPr txBox="1"/>
          <p:nvPr/>
        </p:nvSpPr>
        <p:spPr>
          <a:xfrm>
            <a:off x="2788920" y="4114800"/>
            <a:ext cx="1600200" cy="274320"/>
          </a:xfrm>
          <a:prstGeom prst="rect">
            <a:avLst/>
          </a:prstGeom>
          <a:noFill/>
          <a:ln/>
        </p:spPr>
        <p:txBody>
          <a:bodyPr wrap="square" lIns="0" tIns="0" rIns="0" bIns="0" rtlCol="0" anchor="t"/>
          <a:lstStyle/>
          <a:p>
            <a:pPr indent="0" marL="0">
              <a:buNone/>
            </a:pPr>
            <a:r>
              <a:rPr lang="en-US" sz="1400" dirty="0">
                <a:solidFill>
                  <a:schemeClr val="tx1"/>
                </a:solidFill>
              </a:rPr>
              <a:t>Take-home doses</a:t>
            </a:r>
            <a:endParaRPr lang="en-US" sz="1400" dirty="0"/>
          </a:p>
        </p:txBody>
      </p:sp>
      <p:sp>
        <p:nvSpPr>
          <p:cNvPr id="24" name="Roadmap NOW"/>
          <p:cNvSpPr txBox="1"/>
          <p:nvPr/>
        </p:nvSpPr>
        <p:spPr>
          <a:xfrm>
            <a:off x="4846320" y="1508760"/>
            <a:ext cx="82296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NOW</a:t>
            </a:r>
            <a:endParaRPr lang="en-US" sz="1200" dirty="0"/>
          </a:p>
        </p:txBody>
      </p:sp>
      <p:sp>
        <p:nvSpPr>
          <p:cNvPr id="25" name="Text 19"/>
          <p:cNvSpPr txBox="1"/>
          <p:nvPr/>
        </p:nvSpPr>
        <p:spPr>
          <a:xfrm>
            <a:off x="5852160" y="1481328"/>
            <a:ext cx="2743200" cy="822960"/>
          </a:xfrm>
          <a:prstGeom prst="rect">
            <a:avLst/>
          </a:prstGeom>
          <a:noFill/>
          <a:ln/>
        </p:spPr>
        <p:txBody>
          <a:bodyPr wrap="square" lIns="0" tIns="0" rIns="0" bIns="0" rtlCol="0" anchor="t"/>
          <a:lstStyle/>
          <a:p>
            <a:pPr indent="0" marL="0">
              <a:buNone/>
            </a:pPr>
            <a:r>
              <a:rPr lang="en-US" sz="1400" dirty="0">
                <a:solidFill>
                  <a:schemeClr val="tx1"/>
                </a:solidFill>
              </a:rPr>
              <a:t>Mega prototype: 3 daily slots plus minor illness box</a:t>
            </a:r>
            <a:endParaRPr lang="en-US" sz="1400" dirty="0"/>
          </a:p>
        </p:txBody>
      </p:sp>
      <p:sp>
        <p:nvSpPr>
          <p:cNvPr id="26" name="Roadmap NEXT"/>
          <p:cNvSpPr txBox="1"/>
          <p:nvPr/>
        </p:nvSpPr>
        <p:spPr>
          <a:xfrm>
            <a:off x="4846320" y="2606040"/>
            <a:ext cx="822960" cy="292608"/>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100" kern="0" dirty="0">
                <a:solidFill>
                  <a:schemeClr val="tx1"/>
                </a:solidFill>
              </a:rPr>
              <a:t>NEXT</a:t>
            </a:r>
            <a:endParaRPr lang="en-US" sz="1200" dirty="0"/>
          </a:p>
        </p:txBody>
      </p:sp>
      <p:sp>
        <p:nvSpPr>
          <p:cNvPr id="27" name="Text 21"/>
          <p:cNvSpPr txBox="1"/>
          <p:nvPr/>
        </p:nvSpPr>
        <p:spPr>
          <a:xfrm>
            <a:off x="5852160" y="2578608"/>
            <a:ext cx="2743200" cy="822960"/>
          </a:xfrm>
          <a:prstGeom prst="rect">
            <a:avLst/>
          </a:prstGeom>
          <a:noFill/>
          <a:ln/>
        </p:spPr>
        <p:txBody>
          <a:bodyPr wrap="square" lIns="0" tIns="0" rIns="0" bIns="0" rtlCol="0" anchor="t"/>
          <a:lstStyle/>
          <a:p>
            <a:pPr indent="0" marL="0">
              <a:buNone/>
            </a:pPr>
            <a:r>
              <a:rPr lang="en-US" sz="1400" dirty="0">
                <a:solidFill>
                  <a:schemeClr val="tx1"/>
                </a:solidFill>
              </a:rPr>
              <a:t>RTC clock, battery backup, saved schedules</a:t>
            </a:r>
            <a:endParaRPr lang="en-US" sz="1400" dirty="0"/>
          </a:p>
        </p:txBody>
      </p:sp>
      <p:sp>
        <p:nvSpPr>
          <p:cNvPr id="28" name="Roadmap LATER"/>
          <p:cNvSpPr txBox="1"/>
          <p:nvPr/>
        </p:nvSpPr>
        <p:spPr>
          <a:xfrm>
            <a:off x="4846320" y="3703320"/>
            <a:ext cx="82296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LATER</a:t>
            </a:r>
            <a:endParaRPr lang="en-US" sz="1200" dirty="0"/>
          </a:p>
        </p:txBody>
      </p:sp>
      <p:sp>
        <p:nvSpPr>
          <p:cNvPr id="29" name="Text 23"/>
          <p:cNvSpPr txBox="1"/>
          <p:nvPr/>
        </p:nvSpPr>
        <p:spPr>
          <a:xfrm>
            <a:off x="5852160" y="3675888"/>
            <a:ext cx="2743200" cy="822960"/>
          </a:xfrm>
          <a:prstGeom prst="rect">
            <a:avLst/>
          </a:prstGeom>
          <a:noFill/>
          <a:ln/>
        </p:spPr>
        <p:txBody>
          <a:bodyPr wrap="square" lIns="0" tIns="0" rIns="0" bIns="0" rtlCol="0" anchor="t"/>
          <a:lstStyle/>
          <a:p>
            <a:pPr indent="0" marL="0">
              <a:buNone/>
            </a:pPr>
            <a:r>
              <a:rPr lang="en-US" sz="1400" dirty="0">
                <a:solidFill>
                  <a:schemeClr val="tx1"/>
                </a:solidFill>
              </a:rPr>
              <a:t>WiFi or GSM alerts, weight sensor, doctor-set illness lists, caregiver app</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Pill Companion">
  <a:themeElements>
    <a:clrScheme name="Pill Companion">
      <a:dk1>
        <a:srgbClr val="10292B"/>
      </a:dk1>
      <a:lt1>
        <a:srgbClr val="FFFFFF"/>
      </a:lt1>
      <a:dk2>
        <a:srgbClr val="0B4F52"/>
      </a:dk2>
      <a:lt2>
        <a:srgbClr val="EAF5F3"/>
      </a:lt2>
      <a:accent1>
        <a:srgbClr val="159A9C"/>
      </a:accent1>
      <a:accent2>
        <a:srgbClr val="D9422B"/>
      </a:accent2>
      <a:accent3>
        <a:srgbClr val="F2B33D"/>
      </a:accent3>
      <a:accent4>
        <a:srgbClr val="0B4F52"/>
      </a:accent4>
      <a:accent5>
        <a:srgbClr val="7FC8BE"/>
      </a:accent5>
      <a:accent6>
        <a:srgbClr val="5B6B73"/>
      </a:accent6>
      <a:hlink>
        <a:srgbClr val="159A9C"/>
      </a:hlink>
      <a:folHlink>
        <a:srgbClr val="5B6B73"/>
      </a:folHlink>
    </a:clrScheme>
    <a:fontScheme name="Pill Compan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Pill Companion - Falling Sun 2026</dc:title>
  <dc:subject>PptxGenJS Presentation</dc:subject>
  <dc:creator>PptxGenJS</dc:creator>
  <cp:lastModifiedBy>PptxGenJS</cp:lastModifiedBy>
  <cp:revision>1</cp:revision>
  <dcterms:created xsi:type="dcterms:W3CDTF">2026-10-25T12:52:40Z</dcterms:created>
  <dcterms:modified xsi:type="dcterms:W3CDTF">2026-10-25T12:52:40Z</dcterms:modified>
</cp:coreProperties>
</file>